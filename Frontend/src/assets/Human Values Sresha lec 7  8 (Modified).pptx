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301" r:id="rId3"/>
    <p:sldId id="270" r:id="rId4"/>
    <p:sldId id="277" r:id="rId5"/>
    <p:sldId id="273" r:id="rId6"/>
    <p:sldId id="272" r:id="rId7"/>
    <p:sldId id="274" r:id="rId8"/>
    <p:sldId id="278" r:id="rId9"/>
    <p:sldId id="279" r:id="rId10"/>
    <p:sldId id="275" r:id="rId11"/>
    <p:sldId id="276" r:id="rId12"/>
    <p:sldId id="280" r:id="rId13"/>
    <p:sldId id="283" r:id="rId14"/>
    <p:sldId id="282" r:id="rId15"/>
    <p:sldId id="281" r:id="rId16"/>
    <p:sldId id="297" r:id="rId17"/>
    <p:sldId id="302" r:id="rId18"/>
    <p:sldId id="298" r:id="rId19"/>
    <p:sldId id="285" r:id="rId20"/>
    <p:sldId id="286" r:id="rId21"/>
    <p:sldId id="288" r:id="rId22"/>
    <p:sldId id="299" r:id="rId23"/>
    <p:sldId id="289" r:id="rId24"/>
    <p:sldId id="290" r:id="rId25"/>
    <p:sldId id="291" r:id="rId26"/>
    <p:sldId id="292" r:id="rId27"/>
    <p:sldId id="300" r:id="rId28"/>
    <p:sldId id="293" r:id="rId29"/>
    <p:sldId id="294" r:id="rId30"/>
    <p:sldId id="295" r:id="rId31"/>
    <p:sldId id="296" r:id="rId32"/>
  </p:sldIdLst>
  <p:sldSz cx="12192000" cy="6858000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7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97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4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03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8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746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8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2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48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2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9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130EB-0310-4935-9FF1-27E8290C5EA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150-EB1C-4DDF-A07B-6D93FF1DA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53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NUL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7575" y="219938"/>
            <a:ext cx="5379555" cy="6418125"/>
          </a:xfrm>
          <a:custGeom>
            <a:avLst/>
            <a:gdLst/>
            <a:ahLst/>
            <a:cxnLst/>
            <a:rect l="l" t="t" r="r" b="b"/>
            <a:pathLst>
              <a:path w="8069333" h="9627187">
                <a:moveTo>
                  <a:pt x="0" y="0"/>
                </a:moveTo>
                <a:lnTo>
                  <a:pt x="8069333" y="0"/>
                </a:lnTo>
                <a:lnTo>
                  <a:pt x="8069333" y="9627186"/>
                </a:lnTo>
                <a:lnTo>
                  <a:pt x="0" y="9627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13803" y="5014173"/>
            <a:ext cx="5892397" cy="744622"/>
            <a:chOff x="0" y="0"/>
            <a:chExt cx="2327861" cy="2941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7861" cy="294172"/>
            </a:xfrm>
            <a:custGeom>
              <a:avLst/>
              <a:gdLst/>
              <a:ahLst/>
              <a:cxnLst/>
              <a:rect l="l" t="t" r="r" b="b"/>
              <a:pathLst>
                <a:path w="2327861" h="294172">
                  <a:moveTo>
                    <a:pt x="26278" y="0"/>
                  </a:moveTo>
                  <a:lnTo>
                    <a:pt x="2301583" y="0"/>
                  </a:lnTo>
                  <a:cubicBezTo>
                    <a:pt x="2316096" y="0"/>
                    <a:pt x="2327861" y="11765"/>
                    <a:pt x="2327861" y="26278"/>
                  </a:cubicBezTo>
                  <a:lnTo>
                    <a:pt x="2327861" y="267894"/>
                  </a:lnTo>
                  <a:cubicBezTo>
                    <a:pt x="2327861" y="282407"/>
                    <a:pt x="2316096" y="294172"/>
                    <a:pt x="2301583" y="294172"/>
                  </a:cubicBezTo>
                  <a:lnTo>
                    <a:pt x="26278" y="294172"/>
                  </a:lnTo>
                  <a:cubicBezTo>
                    <a:pt x="11765" y="294172"/>
                    <a:pt x="0" y="282407"/>
                    <a:pt x="0" y="267894"/>
                  </a:cubicBezTo>
                  <a:lnTo>
                    <a:pt x="0" y="26278"/>
                  </a:lnTo>
                  <a:cubicBezTo>
                    <a:pt x="0" y="11765"/>
                    <a:pt x="11765" y="0"/>
                    <a:pt x="262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C0DF">
                    <a:alpha val="50000"/>
                  </a:srgbClr>
                </a:gs>
                <a:gs pos="100000">
                  <a:srgbClr val="FFDE59">
                    <a:alpha val="5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27861" cy="3322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613803" y="2167678"/>
            <a:ext cx="5892397" cy="373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36"/>
              </a:lnSpc>
            </a:pPr>
            <a:r>
              <a:rPr lang="en-IN" sz="6400" dirty="0"/>
              <a:t>Study of Human Values </a:t>
            </a:r>
            <a:r>
              <a:rPr lang="en-IN" sz="6400" dirty="0" smtClean="0"/>
              <a:t>(</a:t>
            </a:r>
            <a:r>
              <a:rPr lang="en-IN" sz="6400" dirty="0" err="1" smtClean="0"/>
              <a:t>Lec</a:t>
            </a:r>
            <a:r>
              <a:rPr lang="en-IN" sz="6400" dirty="0" smtClean="0"/>
              <a:t> </a:t>
            </a:r>
            <a:r>
              <a:rPr lang="en-IN" sz="6400" dirty="0"/>
              <a:t>7</a:t>
            </a:r>
            <a:r>
              <a:rPr lang="en-IN" sz="6400" dirty="0" smtClean="0"/>
              <a:t> &amp; 8)</a:t>
            </a:r>
            <a:endParaRPr lang="en-IN" sz="6400" dirty="0"/>
          </a:p>
          <a:p>
            <a:pPr algn="ctr">
              <a:lnSpc>
                <a:spcPts val="9736"/>
              </a:lnSpc>
            </a:pPr>
            <a:endParaRPr lang="en-US" sz="7666" spc="268" dirty="0">
              <a:solidFill>
                <a:srgbClr val="070708"/>
              </a:solidFill>
              <a:latin typeface="Bernoru"/>
              <a:ea typeface="Bernoru"/>
              <a:cs typeface="Bernoru"/>
              <a:sym typeface="Bernoru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17810" y="5146797"/>
            <a:ext cx="5412823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3"/>
              </a:lnSpc>
            </a:pPr>
            <a:r>
              <a:rPr lang="en-US" sz="2666" spc="13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</a:t>
            </a:r>
            <a:r>
              <a:rPr lang="en-US" sz="2666" spc="13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</a:p>
          <a:p>
            <a:pPr>
              <a:lnSpc>
                <a:spcPts val="3733"/>
              </a:lnSpc>
            </a:pPr>
            <a:r>
              <a:rPr lang="en-US" sz="2666" spc="13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66" spc="13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Prof. </a:t>
            </a:r>
            <a:r>
              <a:rPr lang="en-US" sz="2666" spc="138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Rajarshi</a:t>
            </a:r>
            <a:r>
              <a:rPr lang="en-US" sz="2666" spc="13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66" spc="138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Mahapatra</a:t>
            </a:r>
            <a:endParaRPr lang="en-US" sz="2666" spc="138" dirty="0" smtClean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3733"/>
              </a:lnSpc>
            </a:pPr>
            <a:r>
              <a:rPr lang="en-US" sz="2666" spc="13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en-US" sz="2666" spc="13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Dr. </a:t>
            </a:r>
            <a:r>
              <a:rPr lang="en-US" sz="2666" spc="13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Sresha</a:t>
            </a:r>
            <a:r>
              <a:rPr lang="en-US" sz="2666" spc="13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Yadav nee Ghosh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96576" y="5999022"/>
            <a:ext cx="336282" cy="346357"/>
          </a:xfrm>
          <a:custGeom>
            <a:avLst/>
            <a:gdLst/>
            <a:ahLst/>
            <a:cxnLst/>
            <a:rect l="l" t="t" r="r" b="b"/>
            <a:pathLst>
              <a:path w="504423" h="519536">
                <a:moveTo>
                  <a:pt x="0" y="0"/>
                </a:moveTo>
                <a:lnTo>
                  <a:pt x="504423" y="0"/>
                </a:lnTo>
                <a:lnTo>
                  <a:pt x="504423" y="519536"/>
                </a:lnTo>
                <a:lnTo>
                  <a:pt x="0" y="519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204019" y="1190856"/>
            <a:ext cx="436367" cy="449441"/>
          </a:xfrm>
          <a:custGeom>
            <a:avLst/>
            <a:gdLst/>
            <a:ahLst/>
            <a:cxnLst/>
            <a:rect l="l" t="t" r="r" b="b"/>
            <a:pathLst>
              <a:path w="654550" h="674162">
                <a:moveTo>
                  <a:pt x="0" y="0"/>
                </a:moveTo>
                <a:lnTo>
                  <a:pt x="654549" y="0"/>
                </a:lnTo>
                <a:lnTo>
                  <a:pt x="654549" y="674161"/>
                </a:lnTo>
                <a:lnTo>
                  <a:pt x="0" y="674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584451" y="339443"/>
            <a:ext cx="336282" cy="346357"/>
          </a:xfrm>
          <a:custGeom>
            <a:avLst/>
            <a:gdLst/>
            <a:ahLst/>
            <a:cxnLst/>
            <a:rect l="l" t="t" r="r" b="b"/>
            <a:pathLst>
              <a:path w="504423" h="519536">
                <a:moveTo>
                  <a:pt x="0" y="0"/>
                </a:moveTo>
                <a:lnTo>
                  <a:pt x="504422" y="0"/>
                </a:lnTo>
                <a:lnTo>
                  <a:pt x="504422" y="519536"/>
                </a:lnTo>
                <a:lnTo>
                  <a:pt x="0" y="5195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96371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Case Study: The </a:t>
            </a:r>
            <a:r>
              <a:rPr lang="en-US" b="1" dirty="0"/>
              <a:t>Pursuit of Happiness vs. Materialism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FF"/>
                </a:solidFill>
              </a:rPr>
              <a:t>Scenario:</a:t>
            </a:r>
            <a:r>
              <a:rPr lang="en-US" sz="3600" dirty="0">
                <a:solidFill>
                  <a:srgbClr val="0000FF"/>
                </a:solidFill>
              </a:rPr>
              <a:t> An individual (let's call him </a:t>
            </a:r>
            <a:r>
              <a:rPr lang="en-US" sz="3600" dirty="0" err="1" smtClean="0">
                <a:solidFill>
                  <a:srgbClr val="0000FF"/>
                </a:solidFill>
              </a:rPr>
              <a:t>Jatin</a:t>
            </a:r>
            <a:r>
              <a:rPr lang="en-US" sz="3600" dirty="0" smtClean="0">
                <a:solidFill>
                  <a:srgbClr val="0000FF"/>
                </a:solidFill>
              </a:rPr>
              <a:t>) </a:t>
            </a:r>
            <a:r>
              <a:rPr lang="en-US" sz="3600" dirty="0">
                <a:solidFill>
                  <a:srgbClr val="0000FF"/>
                </a:solidFill>
              </a:rPr>
              <a:t>works 80 hours a week to earn a high salary, believing that more money equals a better life. He believes he is pursuing his "basic aspiration" of </a:t>
            </a:r>
            <a:r>
              <a:rPr lang="en-US" sz="3600" dirty="0" smtClean="0">
                <a:solidFill>
                  <a:srgbClr val="0000FF"/>
                </a:solidFill>
              </a:rPr>
              <a:t>prosperity.</a:t>
            </a:r>
          </a:p>
          <a:p>
            <a:pPr algn="just"/>
            <a:endParaRPr lang="en-US" sz="3600" dirty="0"/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Problem:</a:t>
            </a:r>
            <a:r>
              <a:rPr lang="en-US" sz="3600" dirty="0">
                <a:solidFill>
                  <a:srgbClr val="FF0000"/>
                </a:solidFill>
              </a:rPr>
              <a:t> Despite earning substantial money, </a:t>
            </a:r>
            <a:r>
              <a:rPr lang="en-US" sz="3600" dirty="0" err="1" smtClean="0">
                <a:solidFill>
                  <a:srgbClr val="FF0000"/>
                </a:solidFill>
              </a:rPr>
              <a:t>Jatin</a:t>
            </a:r>
            <a:r>
              <a:rPr lang="en-US" sz="3600" dirty="0" smtClean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is anxious, has poor relationships with his family, and feels no sense of contentment.</a:t>
            </a:r>
            <a:r>
              <a:rPr lang="en-US" dirty="0"/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87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8800" y="1178560"/>
            <a:ext cx="11176000" cy="3416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7200" dirty="0" smtClean="0"/>
              <a:t>Basic Human Aspirations and their interconnectedness to Self-Exploration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889208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/>
              <a:t>Process to initiate Dialogue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Whatever is said is a </a:t>
            </a:r>
            <a:r>
              <a:rPr lang="en-US" b="1" dirty="0">
                <a:solidFill>
                  <a:srgbClr val="C00000"/>
                </a:solidFill>
              </a:rPr>
              <a:t>Proposal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Do not assume it to be true or false</a:t>
            </a:r>
          </a:p>
          <a:p>
            <a:r>
              <a:rPr lang="en-US" dirty="0"/>
              <a:t>Verify it on Your Own Right on the basis of our </a:t>
            </a:r>
            <a:r>
              <a:rPr lang="en-US" b="1" dirty="0">
                <a:solidFill>
                  <a:srgbClr val="008000"/>
                </a:solidFill>
              </a:rPr>
              <a:t>Natural Acceptance</a:t>
            </a:r>
          </a:p>
          <a:p>
            <a:r>
              <a:rPr lang="en-US" dirty="0"/>
              <a:t>It is a process of </a:t>
            </a:r>
            <a:r>
              <a:rPr lang="en-US" b="1" dirty="0">
                <a:solidFill>
                  <a:srgbClr val="0066FF"/>
                </a:solidFill>
              </a:rPr>
              <a:t>Dialogue</a:t>
            </a:r>
          </a:p>
          <a:p>
            <a:r>
              <a:rPr lang="en-US" dirty="0"/>
              <a:t>A dialogue between me and you, to start with</a:t>
            </a:r>
          </a:p>
          <a:p>
            <a:pPr lvl="1"/>
            <a:r>
              <a:rPr lang="en-US" dirty="0"/>
              <a:t>It soon becomes a dialogue within </a:t>
            </a:r>
            <a:r>
              <a:rPr lang="en-US" b="1" dirty="0">
                <a:solidFill>
                  <a:srgbClr val="008000"/>
                </a:solidFill>
              </a:rPr>
              <a:t>your own self </a:t>
            </a:r>
            <a:r>
              <a:rPr lang="en-US" dirty="0"/>
              <a:t>between </a:t>
            </a:r>
            <a:r>
              <a:rPr lang="en-US" b="1" dirty="0">
                <a:solidFill>
                  <a:srgbClr val="FF0000"/>
                </a:solidFill>
              </a:rPr>
              <a:t>what you are and what you really want to be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(your natural acceptance)</a:t>
            </a:r>
          </a:p>
          <a:p>
            <a:r>
              <a:rPr lang="en-US" dirty="0">
                <a:solidFill>
                  <a:srgbClr val="0000FF"/>
                </a:solidFill>
              </a:rPr>
              <a:t>The purpose is to initiate this</a:t>
            </a:r>
            <a:r>
              <a:rPr lang="en-US" dirty="0"/>
              <a:t> </a:t>
            </a:r>
            <a:r>
              <a:rPr lang="en-US" b="1" dirty="0">
                <a:solidFill>
                  <a:srgbClr val="008000"/>
                </a:solidFill>
              </a:rPr>
              <a:t>internal dialogue</a:t>
            </a:r>
            <a:endParaRPr lang="en-IN" b="1" dirty="0">
              <a:solidFill>
                <a:srgbClr val="008000"/>
              </a:solidFill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5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233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altLang="en-US" dirty="0"/>
              <a:t>Life with Clarity of Basic Aspiration (Goal)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3" y="1625959"/>
            <a:ext cx="11665295" cy="19470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(1) Our basic aspiration (human goal) is very clear – the destination is fixed</a:t>
            </a:r>
          </a:p>
          <a:p>
            <a:r>
              <a:rPr lang="en-US" dirty="0"/>
              <a:t>(2) We know our current state (right evaluation)</a:t>
            </a:r>
          </a:p>
          <a:p>
            <a:r>
              <a:rPr lang="en-US" dirty="0"/>
              <a:t>(3) We plan steps that connect and lead </a:t>
            </a:r>
            <a:r>
              <a:rPr lang="en-US" dirty="0" smtClean="0"/>
              <a:t>to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fulfillment of basic </a:t>
            </a:r>
            <a:r>
              <a:rPr lang="en-US" dirty="0" smtClean="0"/>
              <a:t>aspiration</a:t>
            </a:r>
          </a:p>
          <a:p>
            <a:pPr lvl="2"/>
            <a:r>
              <a:rPr lang="en-US" dirty="0" smtClean="0"/>
              <a:t>direction </a:t>
            </a:r>
            <a:r>
              <a:rPr lang="en-US" dirty="0"/>
              <a:t>is definite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5</a:t>
            </a:fld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1859845" y="2554086"/>
            <a:ext cx="8382661" cy="2604145"/>
          </a:xfrm>
          <a:prstGeom prst="straightConnector1">
            <a:avLst/>
          </a:prstGeom>
          <a:ln w="12700">
            <a:solidFill>
              <a:srgbClr val="1E00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31768" y="5255191"/>
            <a:ext cx="2147888" cy="50641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408368" y="2027148"/>
            <a:ext cx="2395938" cy="897795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9877304" y="2081919"/>
            <a:ext cx="173677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hi-IN" altLang="en-US" sz="2200" b="1" dirty="0">
                <a:solidFill>
                  <a:srgbClr val="FFFF00"/>
                </a:solidFill>
              </a:rPr>
              <a:t>(</a:t>
            </a:r>
            <a:r>
              <a:rPr lang="en-US" altLang="en-US" sz="2200" b="1" dirty="0">
                <a:solidFill>
                  <a:srgbClr val="FFFF00"/>
                </a:solidFill>
              </a:rPr>
              <a:t>1</a:t>
            </a:r>
            <a:r>
              <a:rPr lang="hi-IN" altLang="en-US" sz="2200" b="1" dirty="0">
                <a:solidFill>
                  <a:srgbClr val="FFFF00"/>
                </a:solidFill>
              </a:rPr>
              <a:t>)</a:t>
            </a:r>
            <a:r>
              <a:rPr lang="en-US" altLang="en-US" sz="2200" b="1" dirty="0">
                <a:solidFill>
                  <a:srgbClr val="FFFF00"/>
                </a:solidFill>
              </a:rPr>
              <a:t>-Basic </a:t>
            </a:r>
            <a:r>
              <a:rPr lang="en-US" altLang="en-US" sz="2200" b="1" dirty="0" smtClean="0">
                <a:solidFill>
                  <a:srgbClr val="FFFF00"/>
                </a:solidFill>
              </a:rPr>
              <a:t>Aspiration</a:t>
            </a:r>
            <a:endParaRPr lang="en-US" altLang="en-US" sz="2200" b="1" dirty="0">
              <a:solidFill>
                <a:srgbClr val="FFFF00"/>
              </a:solidFill>
            </a:endParaRPr>
          </a:p>
        </p:txBody>
      </p:sp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435707" y="5292142"/>
            <a:ext cx="232003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hi-IN" altLang="en-US" sz="2200" dirty="0"/>
              <a:t>(</a:t>
            </a:r>
            <a:r>
              <a:rPr lang="en-US" altLang="en-US" sz="2200" dirty="0"/>
              <a:t>2</a:t>
            </a:r>
            <a:r>
              <a:rPr lang="hi-IN" altLang="en-US" sz="2200" dirty="0"/>
              <a:t>)</a:t>
            </a:r>
            <a:r>
              <a:rPr lang="en-US" altLang="en-US" sz="2200" dirty="0"/>
              <a:t>-Current State</a:t>
            </a: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 rot="20561342">
            <a:off x="5753585" y="4157084"/>
            <a:ext cx="31273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hi-IN" altLang="en-US" sz="2200" dirty="0"/>
              <a:t>(</a:t>
            </a:r>
            <a:r>
              <a:rPr lang="en-US" altLang="en-US" sz="2200" dirty="0"/>
              <a:t>3</a:t>
            </a:r>
            <a:r>
              <a:rPr lang="hi-IN" altLang="en-US" sz="2200" dirty="0"/>
              <a:t>)</a:t>
            </a:r>
            <a:r>
              <a:rPr lang="en-US" altLang="en-US" sz="2200" dirty="0"/>
              <a:t>-Direction of effort </a:t>
            </a:r>
            <a:r>
              <a:rPr lang="en-US" altLang="en-US" sz="2200" dirty="0">
                <a:sym typeface="Wingdings" panose="05000000000000000000" pitchFamily="2" charset="2"/>
              </a:rPr>
              <a:t></a:t>
            </a:r>
            <a:endParaRPr lang="en-US" altLang="en-US" sz="2200" dirty="0"/>
          </a:p>
        </p:txBody>
      </p:sp>
      <p:sp>
        <p:nvSpPr>
          <p:cNvPr id="13" name="Freeform: Shape 9"/>
          <p:cNvSpPr/>
          <p:nvPr/>
        </p:nvSpPr>
        <p:spPr>
          <a:xfrm>
            <a:off x="2755741" y="3812169"/>
            <a:ext cx="2457450" cy="1706563"/>
          </a:xfrm>
          <a:custGeom>
            <a:avLst/>
            <a:gdLst>
              <a:gd name="connsiteX0" fmla="*/ 0 w 2830805"/>
              <a:gd name="connsiteY0" fmla="*/ 1544595 h 1696212"/>
              <a:gd name="connsiteX1" fmla="*/ 61784 w 2830805"/>
              <a:gd name="connsiteY1" fmla="*/ 1482811 h 1696212"/>
              <a:gd name="connsiteX2" fmla="*/ 111211 w 2830805"/>
              <a:gd name="connsiteY2" fmla="*/ 1408671 h 1696212"/>
              <a:gd name="connsiteX3" fmla="*/ 123567 w 2830805"/>
              <a:gd name="connsiteY3" fmla="*/ 1371600 h 1696212"/>
              <a:gd name="connsiteX4" fmla="*/ 111211 w 2830805"/>
              <a:gd name="connsiteY4" fmla="*/ 1297460 h 1696212"/>
              <a:gd name="connsiteX5" fmla="*/ 172994 w 2830805"/>
              <a:gd name="connsiteY5" fmla="*/ 1383957 h 1696212"/>
              <a:gd name="connsiteX6" fmla="*/ 284205 w 2830805"/>
              <a:gd name="connsiteY6" fmla="*/ 1581665 h 1696212"/>
              <a:gd name="connsiteX7" fmla="*/ 308919 w 2830805"/>
              <a:gd name="connsiteY7" fmla="*/ 1618735 h 1696212"/>
              <a:gd name="connsiteX8" fmla="*/ 321276 w 2830805"/>
              <a:gd name="connsiteY8" fmla="*/ 1655806 h 1696212"/>
              <a:gd name="connsiteX9" fmla="*/ 345989 w 2830805"/>
              <a:gd name="connsiteY9" fmla="*/ 1692876 h 1696212"/>
              <a:gd name="connsiteX10" fmla="*/ 333632 w 2830805"/>
              <a:gd name="connsiteY10" fmla="*/ 1433384 h 1696212"/>
              <a:gd name="connsiteX11" fmla="*/ 284205 w 2830805"/>
              <a:gd name="connsiteY11" fmla="*/ 1359244 h 1696212"/>
              <a:gd name="connsiteX12" fmla="*/ 271849 w 2830805"/>
              <a:gd name="connsiteY12" fmla="*/ 1322173 h 1696212"/>
              <a:gd name="connsiteX13" fmla="*/ 308919 w 2830805"/>
              <a:gd name="connsiteY13" fmla="*/ 1334530 h 1696212"/>
              <a:gd name="connsiteX14" fmla="*/ 358346 w 2830805"/>
              <a:gd name="connsiteY14" fmla="*/ 1359244 h 1696212"/>
              <a:gd name="connsiteX15" fmla="*/ 395416 w 2830805"/>
              <a:gd name="connsiteY15" fmla="*/ 1383957 h 1696212"/>
              <a:gd name="connsiteX16" fmla="*/ 457200 w 2830805"/>
              <a:gd name="connsiteY16" fmla="*/ 1396314 h 1696212"/>
              <a:gd name="connsiteX17" fmla="*/ 494270 w 2830805"/>
              <a:gd name="connsiteY17" fmla="*/ 1408671 h 1696212"/>
              <a:gd name="connsiteX18" fmla="*/ 518984 w 2830805"/>
              <a:gd name="connsiteY18" fmla="*/ 1235676 h 1696212"/>
              <a:gd name="connsiteX19" fmla="*/ 481913 w 2830805"/>
              <a:gd name="connsiteY19" fmla="*/ 1210962 h 1696212"/>
              <a:gd name="connsiteX20" fmla="*/ 308919 w 2830805"/>
              <a:gd name="connsiteY20" fmla="*/ 1223319 h 1696212"/>
              <a:gd name="connsiteX21" fmla="*/ 259492 w 2830805"/>
              <a:gd name="connsiteY21" fmla="*/ 1248033 h 1696212"/>
              <a:gd name="connsiteX22" fmla="*/ 222421 w 2830805"/>
              <a:gd name="connsiteY22" fmla="*/ 1260389 h 1696212"/>
              <a:gd name="connsiteX23" fmla="*/ 172994 w 2830805"/>
              <a:gd name="connsiteY23" fmla="*/ 1334530 h 1696212"/>
              <a:gd name="connsiteX24" fmla="*/ 111211 w 2830805"/>
              <a:gd name="connsiteY24" fmla="*/ 1396314 h 1696212"/>
              <a:gd name="connsiteX25" fmla="*/ 148281 w 2830805"/>
              <a:gd name="connsiteY25" fmla="*/ 1272746 h 1696212"/>
              <a:gd name="connsiteX26" fmla="*/ 271849 w 2830805"/>
              <a:gd name="connsiteY26" fmla="*/ 1210962 h 1696212"/>
              <a:gd name="connsiteX27" fmla="*/ 457200 w 2830805"/>
              <a:gd name="connsiteY27" fmla="*/ 1161535 h 1696212"/>
              <a:gd name="connsiteX28" fmla="*/ 642551 w 2830805"/>
              <a:gd name="connsiteY28" fmla="*/ 1124465 h 1696212"/>
              <a:gd name="connsiteX29" fmla="*/ 852616 w 2830805"/>
              <a:gd name="connsiteY29" fmla="*/ 1136822 h 1696212"/>
              <a:gd name="connsiteX30" fmla="*/ 840259 w 2830805"/>
              <a:gd name="connsiteY30" fmla="*/ 1198606 h 1696212"/>
              <a:gd name="connsiteX31" fmla="*/ 827903 w 2830805"/>
              <a:gd name="connsiteY31" fmla="*/ 1235676 h 1696212"/>
              <a:gd name="connsiteX32" fmla="*/ 790832 w 2830805"/>
              <a:gd name="connsiteY32" fmla="*/ 1248033 h 1696212"/>
              <a:gd name="connsiteX33" fmla="*/ 729049 w 2830805"/>
              <a:gd name="connsiteY33" fmla="*/ 1235676 h 1696212"/>
              <a:gd name="connsiteX34" fmla="*/ 667265 w 2830805"/>
              <a:gd name="connsiteY34" fmla="*/ 1136822 h 1696212"/>
              <a:gd name="connsiteX35" fmla="*/ 679621 w 2830805"/>
              <a:gd name="connsiteY35" fmla="*/ 1050325 h 1696212"/>
              <a:gd name="connsiteX36" fmla="*/ 889686 w 2830805"/>
              <a:gd name="connsiteY36" fmla="*/ 1124465 h 1696212"/>
              <a:gd name="connsiteX37" fmla="*/ 914400 w 2830805"/>
              <a:gd name="connsiteY37" fmla="*/ 1075038 h 1696212"/>
              <a:gd name="connsiteX38" fmla="*/ 926757 w 2830805"/>
              <a:gd name="connsiteY38" fmla="*/ 1025611 h 1696212"/>
              <a:gd name="connsiteX39" fmla="*/ 939113 w 2830805"/>
              <a:gd name="connsiteY39" fmla="*/ 988541 h 1696212"/>
              <a:gd name="connsiteX40" fmla="*/ 988540 w 2830805"/>
              <a:gd name="connsiteY40" fmla="*/ 1013254 h 1696212"/>
              <a:gd name="connsiteX41" fmla="*/ 1025611 w 2830805"/>
              <a:gd name="connsiteY41" fmla="*/ 1050325 h 1696212"/>
              <a:gd name="connsiteX42" fmla="*/ 1062681 w 2830805"/>
              <a:gd name="connsiteY42" fmla="*/ 1075038 h 1696212"/>
              <a:gd name="connsiteX43" fmla="*/ 1124465 w 2830805"/>
              <a:gd name="connsiteY43" fmla="*/ 1013254 h 1696212"/>
              <a:gd name="connsiteX44" fmla="*/ 1149178 w 2830805"/>
              <a:gd name="connsiteY44" fmla="*/ 951471 h 1696212"/>
              <a:gd name="connsiteX45" fmla="*/ 1173892 w 2830805"/>
              <a:gd name="connsiteY45" fmla="*/ 914400 h 1696212"/>
              <a:gd name="connsiteX46" fmla="*/ 1235676 w 2830805"/>
              <a:gd name="connsiteY46" fmla="*/ 803189 h 1696212"/>
              <a:gd name="connsiteX47" fmla="*/ 1285103 w 2830805"/>
              <a:gd name="connsiteY47" fmla="*/ 827903 h 1696212"/>
              <a:gd name="connsiteX48" fmla="*/ 2026508 w 2830805"/>
              <a:gd name="connsiteY48" fmla="*/ 815546 h 1696212"/>
              <a:gd name="connsiteX49" fmla="*/ 2100649 w 2830805"/>
              <a:gd name="connsiteY49" fmla="*/ 778476 h 1696212"/>
              <a:gd name="connsiteX50" fmla="*/ 2088292 w 2830805"/>
              <a:gd name="connsiteY50" fmla="*/ 729049 h 1696212"/>
              <a:gd name="connsiteX51" fmla="*/ 2075935 w 2830805"/>
              <a:gd name="connsiteY51" fmla="*/ 691979 h 1696212"/>
              <a:gd name="connsiteX52" fmla="*/ 2063578 w 2830805"/>
              <a:gd name="connsiteY52" fmla="*/ 630195 h 1696212"/>
              <a:gd name="connsiteX53" fmla="*/ 2051221 w 2830805"/>
              <a:gd name="connsiteY53" fmla="*/ 580768 h 1696212"/>
              <a:gd name="connsiteX54" fmla="*/ 2038865 w 2830805"/>
              <a:gd name="connsiteY54" fmla="*/ 444844 h 1696212"/>
              <a:gd name="connsiteX55" fmla="*/ 2026508 w 2830805"/>
              <a:gd name="connsiteY55" fmla="*/ 370703 h 1696212"/>
              <a:gd name="connsiteX56" fmla="*/ 2038865 w 2830805"/>
              <a:gd name="connsiteY56" fmla="*/ 0 h 1696212"/>
              <a:gd name="connsiteX57" fmla="*/ 2051221 w 2830805"/>
              <a:gd name="connsiteY57" fmla="*/ 61784 h 1696212"/>
              <a:gd name="connsiteX58" fmla="*/ 2730843 w 2830805"/>
              <a:gd name="connsiteY58" fmla="*/ 86498 h 1696212"/>
              <a:gd name="connsiteX59" fmla="*/ 2631989 w 2830805"/>
              <a:gd name="connsiteY59" fmla="*/ 37071 h 1696212"/>
              <a:gd name="connsiteX60" fmla="*/ 2669059 w 2830805"/>
              <a:gd name="connsiteY60" fmla="*/ 24714 h 1696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2830805" h="1696212">
                <a:moveTo>
                  <a:pt x="0" y="1544595"/>
                </a:moveTo>
                <a:cubicBezTo>
                  <a:pt x="20595" y="1524000"/>
                  <a:pt x="43341" y="1505353"/>
                  <a:pt x="61784" y="1482811"/>
                </a:cubicBezTo>
                <a:cubicBezTo>
                  <a:pt x="80592" y="1459823"/>
                  <a:pt x="111211" y="1408671"/>
                  <a:pt x="111211" y="1408671"/>
                </a:cubicBezTo>
                <a:cubicBezTo>
                  <a:pt x="115330" y="1396314"/>
                  <a:pt x="123567" y="1384625"/>
                  <a:pt x="123567" y="1371600"/>
                </a:cubicBezTo>
                <a:cubicBezTo>
                  <a:pt x="123567" y="1346546"/>
                  <a:pt x="86905" y="1291383"/>
                  <a:pt x="111211" y="1297460"/>
                </a:cubicBezTo>
                <a:cubicBezTo>
                  <a:pt x="145585" y="1306054"/>
                  <a:pt x="154571" y="1353691"/>
                  <a:pt x="172994" y="1383957"/>
                </a:cubicBezTo>
                <a:cubicBezTo>
                  <a:pt x="212309" y="1448546"/>
                  <a:pt x="242262" y="1518751"/>
                  <a:pt x="284205" y="1581665"/>
                </a:cubicBezTo>
                <a:lnTo>
                  <a:pt x="308919" y="1618735"/>
                </a:lnTo>
                <a:cubicBezTo>
                  <a:pt x="313038" y="1631092"/>
                  <a:pt x="315451" y="1644156"/>
                  <a:pt x="321276" y="1655806"/>
                </a:cubicBezTo>
                <a:cubicBezTo>
                  <a:pt x="327917" y="1669089"/>
                  <a:pt x="345165" y="1707704"/>
                  <a:pt x="345989" y="1692876"/>
                </a:cubicBezTo>
                <a:cubicBezTo>
                  <a:pt x="350792" y="1606414"/>
                  <a:pt x="349400" y="1518532"/>
                  <a:pt x="333632" y="1433384"/>
                </a:cubicBezTo>
                <a:cubicBezTo>
                  <a:pt x="328224" y="1404179"/>
                  <a:pt x="284205" y="1359244"/>
                  <a:pt x="284205" y="1359244"/>
                </a:cubicBezTo>
                <a:cubicBezTo>
                  <a:pt x="280086" y="1346887"/>
                  <a:pt x="262639" y="1331383"/>
                  <a:pt x="271849" y="1322173"/>
                </a:cubicBezTo>
                <a:cubicBezTo>
                  <a:pt x="281059" y="1312963"/>
                  <a:pt x="296947" y="1329399"/>
                  <a:pt x="308919" y="1334530"/>
                </a:cubicBezTo>
                <a:cubicBezTo>
                  <a:pt x="325850" y="1341786"/>
                  <a:pt x="342353" y="1350105"/>
                  <a:pt x="358346" y="1359244"/>
                </a:cubicBezTo>
                <a:cubicBezTo>
                  <a:pt x="371240" y="1366612"/>
                  <a:pt x="381511" y="1378743"/>
                  <a:pt x="395416" y="1383957"/>
                </a:cubicBezTo>
                <a:cubicBezTo>
                  <a:pt x="415081" y="1391331"/>
                  <a:pt x="436825" y="1391220"/>
                  <a:pt x="457200" y="1396314"/>
                </a:cubicBezTo>
                <a:cubicBezTo>
                  <a:pt x="469836" y="1399473"/>
                  <a:pt x="481913" y="1404552"/>
                  <a:pt x="494270" y="1408671"/>
                </a:cubicBezTo>
                <a:cubicBezTo>
                  <a:pt x="544599" y="1341566"/>
                  <a:pt x="556661" y="1348707"/>
                  <a:pt x="518984" y="1235676"/>
                </a:cubicBezTo>
                <a:cubicBezTo>
                  <a:pt x="514288" y="1221587"/>
                  <a:pt x="494270" y="1219200"/>
                  <a:pt x="481913" y="1210962"/>
                </a:cubicBezTo>
                <a:cubicBezTo>
                  <a:pt x="424248" y="1215081"/>
                  <a:pt x="365944" y="1213815"/>
                  <a:pt x="308919" y="1223319"/>
                </a:cubicBezTo>
                <a:cubicBezTo>
                  <a:pt x="290749" y="1226347"/>
                  <a:pt x="276423" y="1240777"/>
                  <a:pt x="259492" y="1248033"/>
                </a:cubicBezTo>
                <a:cubicBezTo>
                  <a:pt x="247520" y="1253164"/>
                  <a:pt x="234778" y="1256270"/>
                  <a:pt x="222421" y="1260389"/>
                </a:cubicBezTo>
                <a:cubicBezTo>
                  <a:pt x="200707" y="1325537"/>
                  <a:pt x="224417" y="1272823"/>
                  <a:pt x="172994" y="1334530"/>
                </a:cubicBezTo>
                <a:cubicBezTo>
                  <a:pt x="121505" y="1396316"/>
                  <a:pt x="179176" y="1351003"/>
                  <a:pt x="111211" y="1396314"/>
                </a:cubicBezTo>
                <a:cubicBezTo>
                  <a:pt x="123568" y="1355125"/>
                  <a:pt x="125743" y="1309370"/>
                  <a:pt x="148281" y="1272746"/>
                </a:cubicBezTo>
                <a:cubicBezTo>
                  <a:pt x="160681" y="1252597"/>
                  <a:pt x="250941" y="1218429"/>
                  <a:pt x="271849" y="1210962"/>
                </a:cubicBezTo>
                <a:cubicBezTo>
                  <a:pt x="442904" y="1149871"/>
                  <a:pt x="321384" y="1190638"/>
                  <a:pt x="457200" y="1161535"/>
                </a:cubicBezTo>
                <a:cubicBezTo>
                  <a:pt x="647864" y="1120679"/>
                  <a:pt x="467933" y="1149411"/>
                  <a:pt x="642551" y="1124465"/>
                </a:cubicBezTo>
                <a:cubicBezTo>
                  <a:pt x="712573" y="1128584"/>
                  <a:pt x="786939" y="1112193"/>
                  <a:pt x="852616" y="1136822"/>
                </a:cubicBezTo>
                <a:cubicBezTo>
                  <a:pt x="872281" y="1144197"/>
                  <a:pt x="845353" y="1178231"/>
                  <a:pt x="840259" y="1198606"/>
                </a:cubicBezTo>
                <a:cubicBezTo>
                  <a:pt x="837100" y="1211242"/>
                  <a:pt x="837113" y="1226466"/>
                  <a:pt x="827903" y="1235676"/>
                </a:cubicBezTo>
                <a:cubicBezTo>
                  <a:pt x="818693" y="1244886"/>
                  <a:pt x="803189" y="1243914"/>
                  <a:pt x="790832" y="1248033"/>
                </a:cubicBezTo>
                <a:cubicBezTo>
                  <a:pt x="770238" y="1243914"/>
                  <a:pt x="746859" y="1246807"/>
                  <a:pt x="729049" y="1235676"/>
                </a:cubicBezTo>
                <a:cubicBezTo>
                  <a:pt x="705715" y="1221092"/>
                  <a:pt x="679016" y="1160325"/>
                  <a:pt x="667265" y="1136822"/>
                </a:cubicBezTo>
                <a:cubicBezTo>
                  <a:pt x="671384" y="1107990"/>
                  <a:pt x="652156" y="1060018"/>
                  <a:pt x="679621" y="1050325"/>
                </a:cubicBezTo>
                <a:cubicBezTo>
                  <a:pt x="881322" y="979136"/>
                  <a:pt x="869779" y="1024921"/>
                  <a:pt x="889686" y="1124465"/>
                </a:cubicBezTo>
                <a:cubicBezTo>
                  <a:pt x="897924" y="1107989"/>
                  <a:pt x="907932" y="1092286"/>
                  <a:pt x="914400" y="1075038"/>
                </a:cubicBezTo>
                <a:cubicBezTo>
                  <a:pt x="920363" y="1059137"/>
                  <a:pt x="922092" y="1041940"/>
                  <a:pt x="926757" y="1025611"/>
                </a:cubicBezTo>
                <a:cubicBezTo>
                  <a:pt x="930335" y="1013087"/>
                  <a:pt x="934994" y="1000898"/>
                  <a:pt x="939113" y="988541"/>
                </a:cubicBezTo>
                <a:cubicBezTo>
                  <a:pt x="955589" y="996779"/>
                  <a:pt x="973551" y="1002547"/>
                  <a:pt x="988540" y="1013254"/>
                </a:cubicBezTo>
                <a:cubicBezTo>
                  <a:pt x="1002760" y="1023411"/>
                  <a:pt x="1012186" y="1039138"/>
                  <a:pt x="1025611" y="1050325"/>
                </a:cubicBezTo>
                <a:cubicBezTo>
                  <a:pt x="1037020" y="1059832"/>
                  <a:pt x="1050324" y="1066800"/>
                  <a:pt x="1062681" y="1075038"/>
                </a:cubicBezTo>
                <a:cubicBezTo>
                  <a:pt x="1083276" y="1054443"/>
                  <a:pt x="1107763" y="1037114"/>
                  <a:pt x="1124465" y="1013254"/>
                </a:cubicBezTo>
                <a:cubicBezTo>
                  <a:pt x="1137185" y="995083"/>
                  <a:pt x="1139258" y="971310"/>
                  <a:pt x="1149178" y="951471"/>
                </a:cubicBezTo>
                <a:cubicBezTo>
                  <a:pt x="1155820" y="938188"/>
                  <a:pt x="1166021" y="926994"/>
                  <a:pt x="1173892" y="914400"/>
                </a:cubicBezTo>
                <a:cubicBezTo>
                  <a:pt x="1212682" y="852336"/>
                  <a:pt x="1206171" y="862199"/>
                  <a:pt x="1235676" y="803189"/>
                </a:cubicBezTo>
                <a:cubicBezTo>
                  <a:pt x="1260588" y="902844"/>
                  <a:pt x="1226071" y="830714"/>
                  <a:pt x="1285103" y="827903"/>
                </a:cubicBezTo>
                <a:cubicBezTo>
                  <a:pt x="1531993" y="816146"/>
                  <a:pt x="1779373" y="819665"/>
                  <a:pt x="2026508" y="815546"/>
                </a:cubicBezTo>
                <a:cubicBezTo>
                  <a:pt x="2040901" y="810748"/>
                  <a:pt x="2094661" y="796440"/>
                  <a:pt x="2100649" y="778476"/>
                </a:cubicBezTo>
                <a:cubicBezTo>
                  <a:pt x="2106020" y="762365"/>
                  <a:pt x="2092958" y="745378"/>
                  <a:pt x="2088292" y="729049"/>
                </a:cubicBezTo>
                <a:cubicBezTo>
                  <a:pt x="2084714" y="716525"/>
                  <a:pt x="2079094" y="704615"/>
                  <a:pt x="2075935" y="691979"/>
                </a:cubicBezTo>
                <a:cubicBezTo>
                  <a:pt x="2070841" y="671604"/>
                  <a:pt x="2068134" y="650697"/>
                  <a:pt x="2063578" y="630195"/>
                </a:cubicBezTo>
                <a:cubicBezTo>
                  <a:pt x="2059894" y="613617"/>
                  <a:pt x="2055340" y="597244"/>
                  <a:pt x="2051221" y="580768"/>
                </a:cubicBezTo>
                <a:cubicBezTo>
                  <a:pt x="2047102" y="535460"/>
                  <a:pt x="2044181" y="490027"/>
                  <a:pt x="2038865" y="444844"/>
                </a:cubicBezTo>
                <a:cubicBezTo>
                  <a:pt x="2035938" y="419961"/>
                  <a:pt x="2026508" y="395758"/>
                  <a:pt x="2026508" y="370703"/>
                </a:cubicBezTo>
                <a:cubicBezTo>
                  <a:pt x="2026508" y="247067"/>
                  <a:pt x="2034746" y="123568"/>
                  <a:pt x="2038865" y="0"/>
                </a:cubicBezTo>
                <a:cubicBezTo>
                  <a:pt x="2042984" y="20595"/>
                  <a:pt x="2030323" y="59694"/>
                  <a:pt x="2051221" y="61784"/>
                </a:cubicBezTo>
                <a:cubicBezTo>
                  <a:pt x="2620229" y="118685"/>
                  <a:pt x="3028433" y="12099"/>
                  <a:pt x="2730843" y="86498"/>
                </a:cubicBezTo>
                <a:cubicBezTo>
                  <a:pt x="2728037" y="86030"/>
                  <a:pt x="2619634" y="86493"/>
                  <a:pt x="2631989" y="37071"/>
                </a:cubicBezTo>
                <a:cubicBezTo>
                  <a:pt x="2635148" y="24435"/>
                  <a:pt x="2669059" y="24714"/>
                  <a:pt x="2669059" y="2471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 rot="20524412">
            <a:off x="4684909" y="3103056"/>
            <a:ext cx="4249547" cy="1015663"/>
          </a:xfrm>
          <a:prstGeom prst="rect">
            <a:avLst/>
          </a:prstGeom>
          <a:solidFill>
            <a:srgbClr val="FF000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altLang="en-US" sz="2000" b="1" dirty="0">
                <a:solidFill>
                  <a:srgbClr val="FFFF00"/>
                </a:solidFill>
              </a:rPr>
              <a:t>Thinking, doing something</a:t>
            </a:r>
            <a:endParaRPr lang="hi-IN" altLang="en-US" sz="20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altLang="en-US" sz="2000" b="1" dirty="0">
                <a:solidFill>
                  <a:srgbClr val="FFFF00"/>
                </a:solidFill>
              </a:rPr>
              <a:t>Expect to become something</a:t>
            </a:r>
            <a:endParaRPr lang="hi-IN" altLang="en-US" sz="2000" b="1" dirty="0">
              <a:solidFill>
                <a:srgbClr val="FFFF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altLang="en-US" sz="2000" b="1" dirty="0">
                <a:solidFill>
                  <a:srgbClr val="FFFF00"/>
                </a:solidFill>
              </a:rPr>
              <a:t>Expect to get/do something</a:t>
            </a: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435707" y="5805350"/>
            <a:ext cx="24018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hi-IN" altLang="en-US" b="1" dirty="0">
                <a:solidFill>
                  <a:srgbClr val="FF0000"/>
                </a:solidFill>
              </a:rPr>
              <a:t>(कभी ख़ुशी, कभी ग़म)</a:t>
            </a:r>
            <a:endParaRPr lang="en-US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9803765" y="2948320"/>
            <a:ext cx="143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hi-IN" altLang="en-US" b="1" dirty="0">
                <a:solidFill>
                  <a:srgbClr val="1E00AA"/>
                </a:solidFill>
              </a:rPr>
              <a:t>(निरंतर सुख)</a:t>
            </a:r>
            <a:endParaRPr lang="en-US" altLang="en-US" b="1" dirty="0">
              <a:solidFill>
                <a:srgbClr val="1E00A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99667" y="5122864"/>
            <a:ext cx="63563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 typeface="Symbol" pitchFamily="18" charset="2"/>
              <a:buNone/>
              <a:defRPr/>
            </a:pPr>
            <a:r>
              <a:rPr lang="en-IN" altLang="en-US" sz="2400" b="1" dirty="0"/>
              <a:t>Our basic aspiration is definite</a:t>
            </a:r>
          </a:p>
          <a:p>
            <a:pPr algn="r">
              <a:buFont typeface="Symbol" pitchFamily="18" charset="2"/>
              <a:buNone/>
              <a:defRPr/>
            </a:pPr>
            <a:r>
              <a:rPr lang="en-IN" altLang="en-US" sz="2400" b="1" dirty="0"/>
              <a:t>It does not keep </a:t>
            </a:r>
            <a:r>
              <a:rPr lang="en-IN" altLang="en-US" sz="2400" b="1" dirty="0" smtClean="0"/>
              <a:t>changing</a:t>
            </a:r>
          </a:p>
          <a:p>
            <a:pPr algn="r">
              <a:buFont typeface="Symbol" pitchFamily="18" charset="2"/>
              <a:buNone/>
              <a:defRPr/>
            </a:pPr>
            <a:r>
              <a:rPr lang="en-IN" altLang="en-US" sz="2400" dirty="0" smtClean="0"/>
              <a:t>(It </a:t>
            </a:r>
            <a:r>
              <a:rPr lang="en-IN" altLang="en-US" sz="2400" dirty="0"/>
              <a:t>seems to be the same </a:t>
            </a:r>
            <a:r>
              <a:rPr lang="en-IN" altLang="en-US" sz="2400" dirty="0" smtClean="0"/>
              <a:t>for </a:t>
            </a:r>
            <a:r>
              <a:rPr lang="en-IN" altLang="en-US" sz="2400" dirty="0"/>
              <a:t>all human beings)</a:t>
            </a: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8799527" y="3728424"/>
            <a:ext cx="303812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IN" altLang="en-US" sz="2400" dirty="0" smtClean="0">
                <a:solidFill>
                  <a:srgbClr val="FF00FF"/>
                </a:solidFill>
                <a:cs typeface="Arial" panose="020B0604020202020204" pitchFamily="34" charset="0"/>
              </a:rPr>
              <a:t>Fulfilling </a:t>
            </a:r>
            <a:r>
              <a:rPr lang="en-IN" altLang="en-US" sz="2400" dirty="0">
                <a:solidFill>
                  <a:srgbClr val="FF00FF"/>
                </a:solidFill>
                <a:cs typeface="Arial" panose="020B0604020202020204" pitchFamily="34" charset="0"/>
              </a:rPr>
              <a:t>life</a:t>
            </a:r>
          </a:p>
          <a:p>
            <a:pPr algn="r" eaLnBrk="1" hangingPunct="1"/>
            <a:endParaRPr lang="en-IN" altLang="en-US" sz="2400" dirty="0">
              <a:solidFill>
                <a:srgbClr val="FF00FF"/>
              </a:solidFill>
              <a:cs typeface="Arial" panose="020B0604020202020204" pitchFamily="34" charset="0"/>
            </a:endParaRPr>
          </a:p>
          <a:p>
            <a:pPr algn="r" eaLnBrk="1" hangingPunct="1"/>
            <a:r>
              <a:rPr lang="en-IN" altLang="en-US" sz="2400" dirty="0">
                <a:solidFill>
                  <a:srgbClr val="FF00FF"/>
                </a:solidFill>
              </a:rPr>
              <a:t>To BE always </a:t>
            </a:r>
            <a:r>
              <a:rPr lang="en-IN" altLang="en-US" sz="2400" dirty="0" smtClean="0">
                <a:solidFill>
                  <a:srgbClr val="FF00FF"/>
                </a:solidFill>
                <a:cs typeface="Arial" panose="020B0604020202020204" pitchFamily="34" charset="0"/>
              </a:rPr>
              <a:t>happy </a:t>
            </a:r>
            <a:r>
              <a:rPr lang="en-IN" altLang="en-US" sz="2400" dirty="0">
                <a:solidFill>
                  <a:srgbClr val="FF00FF"/>
                </a:solidFill>
                <a:cs typeface="Arial" panose="020B0604020202020204" pitchFamily="34" charset="0"/>
              </a:rPr>
              <a:t>and </a:t>
            </a:r>
            <a:r>
              <a:rPr lang="en-IN" altLang="en-US" sz="2400" dirty="0" smtClean="0">
                <a:solidFill>
                  <a:srgbClr val="FF00FF"/>
                </a:solidFill>
                <a:cs typeface="Arial" panose="020B0604020202020204" pitchFamily="34" charset="0"/>
              </a:rPr>
              <a:t>prosperous</a:t>
            </a:r>
            <a:endParaRPr lang="en-IN" altLang="en-US" sz="2400" dirty="0">
              <a:solidFill>
                <a:srgbClr val="FF00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11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20" y="2204085"/>
            <a:ext cx="10515600" cy="132556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We keep doing something which we consider to be important at a given point of time.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6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8520" y="2244725"/>
            <a:ext cx="10515600" cy="13255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6000" dirty="0" smtClean="0"/>
              <a:t>What will make us fulfilled?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20630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9320" y="2265045"/>
            <a:ext cx="10515600" cy="1325563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The Basic Human Aspirations are Happiness, prosperity and its continuity.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080" y="2092325"/>
            <a:ext cx="105156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 smtClean="0"/>
              <a:t>Basic Requirements for Fulfilling of Human Aspirations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529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476672"/>
            <a:ext cx="4047527" cy="10809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Aspiration, </a:t>
            </a:r>
            <a:r>
              <a:rPr lang="en-US" dirty="0"/>
              <a:t>What We Want to Be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680320" y="1784292"/>
            <a:ext cx="4983631" cy="3599316"/>
          </a:xfrm>
        </p:spPr>
        <p:txBody>
          <a:bodyPr>
            <a:normAutofit/>
          </a:bodyPr>
          <a:lstStyle/>
          <a:p>
            <a:r>
              <a:rPr lang="en-US" dirty="0"/>
              <a:t>Do we want to be </a:t>
            </a:r>
            <a:r>
              <a:rPr lang="en-US" b="1" dirty="0">
                <a:solidFill>
                  <a:srgbClr val="FF00FF"/>
                </a:solidFill>
              </a:rPr>
              <a:t>happy</a:t>
            </a:r>
            <a:r>
              <a:rPr lang="en-US" dirty="0"/>
              <a:t>?</a:t>
            </a:r>
          </a:p>
          <a:p>
            <a:r>
              <a:rPr lang="en-US" dirty="0" smtClean="0"/>
              <a:t>Do </a:t>
            </a:r>
            <a:r>
              <a:rPr lang="en-US" dirty="0"/>
              <a:t>we want to be </a:t>
            </a:r>
            <a:r>
              <a:rPr lang="en-US" b="1" dirty="0">
                <a:solidFill>
                  <a:srgbClr val="008000"/>
                </a:solidFill>
              </a:rPr>
              <a:t>prosperous</a:t>
            </a:r>
            <a:r>
              <a:rPr lang="en-US" dirty="0"/>
              <a:t>?</a:t>
            </a:r>
          </a:p>
          <a:p>
            <a:r>
              <a:rPr lang="en-US" dirty="0" smtClean="0"/>
              <a:t>Do </a:t>
            </a:r>
            <a:r>
              <a:rPr lang="en-US" dirty="0"/>
              <a:t>we want the </a:t>
            </a:r>
            <a:r>
              <a:rPr lang="en-US" b="1" dirty="0">
                <a:solidFill>
                  <a:srgbClr val="0066FF"/>
                </a:solidFill>
              </a:rPr>
              <a:t>continuity </a:t>
            </a:r>
            <a:r>
              <a:rPr lang="en-US" b="1" dirty="0" smtClean="0">
                <a:solidFill>
                  <a:srgbClr val="0066FF"/>
                </a:solidFill>
              </a:rPr>
              <a:t>of happiness </a:t>
            </a:r>
            <a:r>
              <a:rPr lang="en-US" b="1" dirty="0">
                <a:solidFill>
                  <a:srgbClr val="0066FF"/>
                </a:solidFill>
              </a:rPr>
              <a:t>and prosperity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754484" y="1758088"/>
            <a:ext cx="5384800" cy="2692895"/>
          </a:xfrm>
        </p:spPr>
        <p:txBody>
          <a:bodyPr>
            <a:normAutofit/>
          </a:bodyPr>
          <a:lstStyle/>
          <a:p>
            <a:r>
              <a:rPr lang="en-US" dirty="0"/>
              <a:t>Are we happy?</a:t>
            </a:r>
          </a:p>
          <a:p>
            <a:r>
              <a:rPr lang="en-US" dirty="0" smtClean="0"/>
              <a:t>Are </a:t>
            </a:r>
            <a:r>
              <a:rPr lang="en-US" dirty="0"/>
              <a:t>we prosperous?</a:t>
            </a:r>
          </a:p>
          <a:p>
            <a:r>
              <a:rPr lang="en-US" dirty="0" smtClean="0"/>
              <a:t>Is </a:t>
            </a:r>
            <a:r>
              <a:rPr lang="en-US" dirty="0"/>
              <a:t>there continuity of </a:t>
            </a:r>
            <a:r>
              <a:rPr lang="en-US" dirty="0" smtClean="0"/>
              <a:t>our happiness </a:t>
            </a:r>
            <a:r>
              <a:rPr lang="en-US" dirty="0"/>
              <a:t>and prosperity?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657059" y="4638037"/>
            <a:ext cx="10996461" cy="155832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0066FF"/>
                </a:solidFill>
              </a:rPr>
              <a:t>Why </a:t>
            </a:r>
            <a:r>
              <a:rPr lang="en-IN" sz="2400" b="1" dirty="0">
                <a:solidFill>
                  <a:srgbClr val="0066FF"/>
                </a:solidFill>
              </a:rPr>
              <a:t>this gap?</a:t>
            </a:r>
            <a:endParaRPr lang="en-IN" sz="2400" dirty="0">
              <a:solidFill>
                <a:srgbClr val="0066FF"/>
              </a:solidFill>
            </a:endParaRPr>
          </a:p>
          <a:p>
            <a:pPr algn="ctr"/>
            <a:r>
              <a:rPr lang="en-US" sz="2400" dirty="0">
                <a:solidFill>
                  <a:srgbClr val="0066FF"/>
                </a:solidFill>
              </a:rPr>
              <a:t>-</a:t>
            </a:r>
            <a:r>
              <a:rPr lang="en-US" sz="2400" b="1" dirty="0">
                <a:solidFill>
                  <a:srgbClr val="0066FF"/>
                </a:solidFill>
              </a:rPr>
              <a:t>between our desire and our state of being</a:t>
            </a:r>
            <a:endParaRPr lang="en-US" sz="2400" dirty="0">
              <a:solidFill>
                <a:srgbClr val="0066FF"/>
              </a:solidFill>
            </a:endParaRPr>
          </a:p>
          <a:p>
            <a:pPr algn="ctr"/>
            <a:r>
              <a:rPr lang="en-US" sz="2400" dirty="0">
                <a:solidFill>
                  <a:srgbClr val="0066FF"/>
                </a:solidFill>
              </a:rPr>
              <a:t>-</a:t>
            </a:r>
            <a:r>
              <a:rPr lang="en-US" sz="2400" b="1" dirty="0">
                <a:solidFill>
                  <a:srgbClr val="0066FF"/>
                </a:solidFill>
              </a:rPr>
              <a:t>between what we really want to be and what we are</a:t>
            </a:r>
            <a:endParaRPr lang="en-US" sz="2400" dirty="0">
              <a:solidFill>
                <a:srgbClr val="0066FF"/>
              </a:solidFill>
            </a:endParaRPr>
          </a:p>
          <a:p>
            <a:pPr algn="ctr"/>
            <a:r>
              <a:rPr lang="en-US" sz="2400" b="1" dirty="0" smtClean="0">
                <a:solidFill>
                  <a:srgbClr val="0066FF"/>
                </a:solidFill>
              </a:rPr>
              <a:t>What </a:t>
            </a:r>
            <a:r>
              <a:rPr lang="en-US" sz="2400" b="1" dirty="0">
                <a:solidFill>
                  <a:srgbClr val="0066FF"/>
                </a:solidFill>
              </a:rPr>
              <a:t>are we doing to fill this gap? Is it getting filled up or getting wider</a:t>
            </a:r>
            <a:r>
              <a:rPr lang="en-US" sz="2400" b="1" dirty="0" smtClean="0">
                <a:solidFill>
                  <a:srgbClr val="0066FF"/>
                </a:solidFill>
              </a:rPr>
              <a:t>?</a:t>
            </a:r>
            <a:endParaRPr lang="en-US" sz="2400" dirty="0">
              <a:solidFill>
                <a:srgbClr val="0066FF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725156" y="555857"/>
            <a:ext cx="4047527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State of Being, What We Are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96085" y="3934907"/>
            <a:ext cx="4654183" cy="461665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answers are in affirmative </a:t>
            </a:r>
            <a:r>
              <a:rPr lang="en-US" sz="24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en-US" sz="24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48186" y="3802369"/>
            <a:ext cx="6152034" cy="707886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 a </a:t>
            </a:r>
            <a:r>
              <a:rPr lang="en-US" sz="2000" b="1" dirty="0">
                <a:solidFill>
                  <a:srgbClr val="FF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natural acceptance </a:t>
            </a:r>
            <a:r>
              <a:rPr lang="en-US" sz="20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the continuity 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happiness </a:t>
            </a:r>
            <a:r>
              <a:rPr lang="en-US" sz="20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prosperity</a:t>
            </a:r>
            <a:r>
              <a:rPr lang="en-US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These are our basic aspirations.</a:t>
            </a:r>
            <a:endParaRPr lang="en-IN" sz="20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Community Well-Tips for Living a Happy and Prosperous Lif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832" y="1186563"/>
            <a:ext cx="1929934" cy="12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 We Really Know What Happiness Means? — Steem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732" y="633573"/>
            <a:ext cx="1929308" cy="108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98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animBg="1"/>
      <p:bldP spid="10" grpId="0"/>
      <p:bldP spid="3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80321" y="476672"/>
            <a:ext cx="4047527" cy="10809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Aspiration, What We Want to Be</a:t>
            </a:r>
            <a:endParaRPr lang="en-IN" dirty="0"/>
          </a:p>
        </p:txBody>
      </p:sp>
      <p:sp>
        <p:nvSpPr>
          <p:cNvPr id="9" name="Content Placeholder 6"/>
          <p:cNvSpPr txBox="1">
            <a:spLocks/>
          </p:cNvSpPr>
          <p:nvPr/>
        </p:nvSpPr>
        <p:spPr>
          <a:xfrm>
            <a:off x="680320" y="1784292"/>
            <a:ext cx="498363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3399"/>
              </a:buClr>
              <a:buFont typeface="Wingdings 3" pitchFamily="18" charset="2"/>
              <a:buChar char="Ò"/>
              <a:defRPr sz="24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Do we want to be </a:t>
            </a:r>
            <a:r>
              <a:rPr lang="en-US" b="1" smtClean="0">
                <a:solidFill>
                  <a:srgbClr val="FF00FF"/>
                </a:solidFill>
              </a:rPr>
              <a:t>happy</a:t>
            </a:r>
            <a:r>
              <a:rPr lang="en-US" smtClean="0"/>
              <a:t>?</a:t>
            </a:r>
          </a:p>
          <a:p>
            <a:r>
              <a:rPr lang="en-US" smtClean="0"/>
              <a:t>Do we want to be </a:t>
            </a:r>
            <a:r>
              <a:rPr lang="en-US" b="1" smtClean="0">
                <a:solidFill>
                  <a:srgbClr val="008000"/>
                </a:solidFill>
              </a:rPr>
              <a:t>prosperous</a:t>
            </a:r>
            <a:r>
              <a:rPr lang="en-US" smtClean="0"/>
              <a:t>?</a:t>
            </a:r>
          </a:p>
          <a:p>
            <a:r>
              <a:rPr lang="en-US" smtClean="0"/>
              <a:t>Do we want the </a:t>
            </a:r>
            <a:r>
              <a:rPr lang="en-US" b="1" smtClean="0">
                <a:solidFill>
                  <a:srgbClr val="0066FF"/>
                </a:solidFill>
              </a:rPr>
              <a:t>continuity of happiness and prosperity</a:t>
            </a:r>
            <a:r>
              <a:rPr lang="en-US" smtClean="0"/>
              <a:t>?</a:t>
            </a:r>
            <a:endParaRPr lang="en-IN" dirty="0"/>
          </a:p>
        </p:txBody>
      </p:sp>
      <p:sp>
        <p:nvSpPr>
          <p:cNvPr id="10" name="Content Placeholder 7"/>
          <p:cNvSpPr>
            <a:spLocks noGrp="1"/>
          </p:cNvSpPr>
          <p:nvPr>
            <p:ph sz="half" idx="2"/>
          </p:nvPr>
        </p:nvSpPr>
        <p:spPr>
          <a:xfrm>
            <a:off x="6600056" y="1771716"/>
            <a:ext cx="5082256" cy="2328079"/>
          </a:xfrm>
        </p:spPr>
        <p:txBody>
          <a:bodyPr>
            <a:normAutofit/>
          </a:bodyPr>
          <a:lstStyle/>
          <a:p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our </a:t>
            </a:r>
            <a:r>
              <a:rPr lang="en-US" b="1" dirty="0" smtClean="0">
                <a:solidFill>
                  <a:srgbClr val="FF0000"/>
                </a:solidFill>
              </a:rPr>
              <a:t>effort </a:t>
            </a:r>
            <a:r>
              <a:rPr lang="en-US" dirty="0" smtClean="0"/>
              <a:t>for </a:t>
            </a:r>
            <a:r>
              <a:rPr lang="en-US" dirty="0"/>
              <a:t>continuity of </a:t>
            </a:r>
            <a:r>
              <a:rPr lang="en-US" dirty="0" smtClean="0"/>
              <a:t>happiness and </a:t>
            </a:r>
            <a:r>
              <a:rPr lang="en-US" dirty="0"/>
              <a:t>prosperity</a:t>
            </a:r>
            <a:r>
              <a:rPr lang="en-US" dirty="0" smtClean="0"/>
              <a:t>?</a:t>
            </a:r>
          </a:p>
          <a:p>
            <a:r>
              <a:rPr lang="en-US" dirty="0" smtClean="0"/>
              <a:t>Just </a:t>
            </a:r>
            <a:r>
              <a:rPr lang="en-US" dirty="0"/>
              <a:t>for accumulation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FF00FF"/>
                </a:solidFill>
              </a:rPr>
              <a:t>physical facility or materialistic possession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852724" y="4099795"/>
            <a:ext cx="106571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66FF"/>
                </a:solidFill>
              </a:rPr>
              <a:t>Have we assumed that happiness and prosperity will be </a:t>
            </a:r>
            <a:r>
              <a:rPr lang="en-US" sz="2400" b="1" dirty="0" smtClean="0">
                <a:solidFill>
                  <a:srgbClr val="0066FF"/>
                </a:solidFill>
              </a:rPr>
              <a:t>ensured with </a:t>
            </a:r>
            <a:r>
              <a:rPr lang="en-US" sz="2400" b="1" dirty="0">
                <a:solidFill>
                  <a:srgbClr val="0066FF"/>
                </a:solidFill>
              </a:rPr>
              <a:t>enough physical </a:t>
            </a:r>
            <a:r>
              <a:rPr lang="en-US" sz="2400" b="1" dirty="0" smtClean="0">
                <a:solidFill>
                  <a:srgbClr val="0066FF"/>
                </a:solidFill>
              </a:rPr>
              <a:t>facilities?</a:t>
            </a:r>
          </a:p>
          <a:p>
            <a:pPr marL="342900" indent="-342900">
              <a:buClr>
                <a:srgbClr val="FF00FF"/>
              </a:buClr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0066FF"/>
              </a:solidFill>
            </a:endParaRPr>
          </a:p>
          <a:p>
            <a:pPr marL="342900" indent="-34290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66FF"/>
                </a:solidFill>
              </a:rPr>
              <a:t>What effort are we making, other than </a:t>
            </a:r>
            <a:r>
              <a:rPr lang="en-US" sz="2400" b="1" dirty="0" smtClean="0">
                <a:solidFill>
                  <a:srgbClr val="0066FF"/>
                </a:solidFill>
              </a:rPr>
              <a:t>the accumulation </a:t>
            </a:r>
            <a:r>
              <a:rPr lang="en-US" sz="2400" b="1" dirty="0">
                <a:solidFill>
                  <a:srgbClr val="0066FF"/>
                </a:solidFill>
              </a:rPr>
              <a:t>of physical facility?</a:t>
            </a:r>
            <a:endParaRPr lang="en-IN" sz="2400" dirty="0">
              <a:solidFill>
                <a:srgbClr val="0066FF"/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6600056" y="404664"/>
            <a:ext cx="4047527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rgbClr val="FF0000"/>
                </a:solidFill>
              </a:rPr>
              <a:t>Effort</a:t>
            </a:r>
            <a:endParaRPr lang="en-IN" sz="8000" b="1" dirty="0">
              <a:solidFill>
                <a:srgbClr val="FF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727" y="4488751"/>
            <a:ext cx="615913" cy="6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0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8520" y="985520"/>
            <a:ext cx="10515600" cy="4531359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Is our effort for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0000"/>
                </a:solidFill>
              </a:rPr>
              <a:t>continuity of happiness and prosperity 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or 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just for accumulation of physical facility?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594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Think </a:t>
            </a:r>
            <a:r>
              <a:rPr lang="en-US" dirty="0"/>
              <a:t>a little</a:t>
            </a:r>
            <a:br>
              <a:rPr lang="en-US" dirty="0"/>
            </a:br>
            <a:r>
              <a:rPr lang="en-US" sz="2700" dirty="0"/>
              <a:t>To find out what else is required (over and above physical facility)</a:t>
            </a:r>
            <a:endParaRPr lang="en-IN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Check: Is the unhappiness in our families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More </a:t>
            </a:r>
            <a:r>
              <a:rPr lang="en-US" dirty="0">
                <a:solidFill>
                  <a:srgbClr val="0000FF"/>
                </a:solidFill>
              </a:rPr>
              <a:t>due to lack of physical facility or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More </a:t>
            </a:r>
            <a:r>
              <a:rPr lang="en-US" dirty="0">
                <a:solidFill>
                  <a:srgbClr val="0000FF"/>
                </a:solidFill>
              </a:rPr>
              <a:t>due to lack of fulfillment in </a:t>
            </a:r>
            <a:r>
              <a:rPr lang="en-US" dirty="0" smtClean="0">
                <a:solidFill>
                  <a:srgbClr val="0000FF"/>
                </a:solidFill>
              </a:rPr>
              <a:t>relationship</a:t>
            </a:r>
          </a:p>
          <a:p>
            <a:r>
              <a:rPr lang="en-US" dirty="0"/>
              <a:t>How much time and effort are we investing: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physical facility</a:t>
            </a:r>
          </a:p>
          <a:p>
            <a:pPr lvl="1"/>
            <a:r>
              <a:rPr lang="en-US" dirty="0" smtClean="0"/>
              <a:t>For </a:t>
            </a:r>
            <a:r>
              <a:rPr lang="en-US" dirty="0"/>
              <a:t>fulfillment in </a:t>
            </a:r>
            <a:r>
              <a:rPr lang="en-US" dirty="0" smtClean="0"/>
              <a:t>a relationship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11424" y="5036501"/>
            <a:ext cx="10538896" cy="9578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The unhappiness is more due to </a:t>
            </a:r>
            <a:r>
              <a:rPr lang="en-US" sz="2800" b="1" dirty="0">
                <a:solidFill>
                  <a:srgbClr val="FF0000"/>
                </a:solidFill>
              </a:rPr>
              <a:t>lack of fulfillment in relationship</a:t>
            </a:r>
          </a:p>
          <a:p>
            <a:pPr algn="ctr"/>
            <a:r>
              <a:rPr lang="en-US" sz="2800" dirty="0">
                <a:solidFill>
                  <a:srgbClr val="000000"/>
                </a:solidFill>
              </a:rPr>
              <a:t>Most of the time and effort is spent for physical facility</a:t>
            </a:r>
            <a:endParaRPr lang="en-IN" sz="2800" dirty="0"/>
          </a:p>
        </p:txBody>
      </p:sp>
      <p:pic>
        <p:nvPicPr>
          <p:cNvPr id="4098" name="Picture 2" descr="Are You Happy GIFs | Tenor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2069004"/>
            <a:ext cx="3159274" cy="213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04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991200" y="1784428"/>
            <a:ext cx="7200800" cy="32403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6372"/>
            <a:ext cx="10515600" cy="132556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For human beings physical facility is necessary but relationship is also </a:t>
            </a:r>
            <a:r>
              <a:rPr lang="en-US" altLang="en-US" dirty="0" smtClean="0"/>
              <a:t>necessary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73669" y="2132668"/>
            <a:ext cx="3595155" cy="1754326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RELATIONSHIP</a:t>
            </a:r>
            <a:endParaRPr lang="en-IN" sz="3600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r>
              <a:rPr lang="en-IN" sz="36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with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human being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59896" y="2492896"/>
            <a:ext cx="3861462" cy="1200329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r>
              <a:rPr lang="en-IN" sz="3600" b="1" dirty="0">
                <a:latin typeface="Calibri" panose="020F0502020204030204" pitchFamily="34" charset="0"/>
              </a:rPr>
              <a:t>PHYSICAL FACILITY</a:t>
            </a:r>
            <a:endParaRPr lang="en-IN" sz="3600" dirty="0">
              <a:latin typeface="Calibri" panose="020F0502020204030204" pitchFamily="34" charset="0"/>
            </a:endParaRPr>
          </a:p>
          <a:p>
            <a:r>
              <a:rPr lang="en-IN" sz="3600" b="1" dirty="0">
                <a:latin typeface="Calibri" panose="020F0502020204030204" pitchFamily="34" charset="0"/>
              </a:rPr>
              <a:t>w</a:t>
            </a:r>
            <a:r>
              <a:rPr lang="en-IN" sz="3600" b="1" dirty="0" smtClean="0">
                <a:latin typeface="Calibri" panose="020F0502020204030204" pitchFamily="34" charset="0"/>
              </a:rPr>
              <a:t>ith </a:t>
            </a:r>
            <a:r>
              <a:rPr lang="en-IN" sz="3600" b="1" dirty="0">
                <a:latin typeface="Calibri" panose="020F0502020204030204" pitchFamily="34" charset="0"/>
              </a:rPr>
              <a:t>nature</a:t>
            </a:r>
            <a:endParaRPr lang="en-IN" sz="3600" dirty="0"/>
          </a:p>
        </p:txBody>
      </p:sp>
      <p:sp>
        <p:nvSpPr>
          <p:cNvPr id="9" name="TextBox 26"/>
          <p:cNvSpPr txBox="1">
            <a:spLocks noChangeArrowheads="1"/>
          </p:cNvSpPr>
          <p:nvPr/>
        </p:nvSpPr>
        <p:spPr bwMode="auto">
          <a:xfrm>
            <a:off x="9336360" y="3293185"/>
            <a:ext cx="2623262" cy="1200329"/>
          </a:xfrm>
          <a:prstGeom prst="rect">
            <a:avLst/>
          </a:prstGeom>
          <a:solidFill>
            <a:srgbClr val="D60093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u="sng" dirty="0">
                <a:solidFill>
                  <a:schemeClr val="bg1"/>
                </a:solidFill>
                <a:latin typeface="+mn-lt"/>
              </a:rPr>
              <a:t>For human beings:</a:t>
            </a:r>
          </a:p>
          <a:p>
            <a:pPr eaLnBrk="1" hangingPunct="1"/>
            <a:r>
              <a:rPr lang="en-US" altLang="en-US" sz="2400" b="1" dirty="0">
                <a:solidFill>
                  <a:schemeClr val="bg1"/>
                </a:solidFill>
                <a:latin typeface="+mn-lt"/>
              </a:rPr>
              <a:t>necessary but not</a:t>
            </a:r>
          </a:p>
          <a:p>
            <a:pPr eaLnBrk="1" hangingPunct="1"/>
            <a:r>
              <a:rPr lang="en-US" altLang="en-US" sz="2400" b="1" dirty="0">
                <a:solidFill>
                  <a:schemeClr val="bg1"/>
                </a:solidFill>
                <a:latin typeface="+mn-lt"/>
              </a:rPr>
              <a:t>adequate</a:t>
            </a:r>
            <a:endParaRPr lang="en-GB" altLang="en-US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Box 27"/>
          <p:cNvSpPr txBox="1">
            <a:spLocks noChangeArrowheads="1"/>
          </p:cNvSpPr>
          <p:nvPr/>
        </p:nvSpPr>
        <p:spPr bwMode="auto">
          <a:xfrm>
            <a:off x="9336360" y="2018553"/>
            <a:ext cx="2624849" cy="1200329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 u="sng" dirty="0">
                <a:solidFill>
                  <a:schemeClr val="bg1"/>
                </a:solidFill>
                <a:latin typeface="+mn-lt"/>
              </a:rPr>
              <a:t>For animals:</a:t>
            </a:r>
          </a:p>
          <a:p>
            <a:pPr eaLnBrk="1" hangingPunct="1"/>
            <a:r>
              <a:rPr lang="en-US" altLang="en-US" sz="2400" b="1" dirty="0">
                <a:solidFill>
                  <a:schemeClr val="bg1"/>
                </a:solidFill>
                <a:latin typeface="+mn-lt"/>
              </a:rPr>
              <a:t>necessary &amp; largely adequate</a:t>
            </a:r>
            <a:endParaRPr lang="en-GB" altLang="en-US" sz="2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559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433" y="128841"/>
            <a:ext cx="6852215" cy="1146703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dirty="0">
                <a:solidFill>
                  <a:srgbClr val="0000FF"/>
                </a:solidFill>
              </a:rPr>
              <a:t>Physical Facility is Necessary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630866"/>
            <a:ext cx="5976665" cy="460644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an animal has lack </a:t>
            </a:r>
            <a:r>
              <a:rPr lang="en-US" dirty="0" smtClean="0"/>
              <a:t>of physical </a:t>
            </a:r>
            <a:r>
              <a:rPr lang="en-US" dirty="0"/>
              <a:t>facility it becomes uncomfortable</a:t>
            </a:r>
            <a:r>
              <a:rPr lang="en-US" dirty="0" smtClean="0"/>
              <a:t>, when </a:t>
            </a:r>
            <a:r>
              <a:rPr lang="en-US" dirty="0"/>
              <a:t>it gets physical </a:t>
            </a:r>
            <a:r>
              <a:rPr lang="en-US" dirty="0" smtClean="0"/>
              <a:t>facility, </a:t>
            </a:r>
            <a:r>
              <a:rPr lang="en-US" dirty="0"/>
              <a:t>it becomes comfortable</a:t>
            </a:r>
          </a:p>
          <a:p>
            <a:pPr lvl="1"/>
            <a:r>
              <a:rPr lang="en-US" dirty="0" err="1"/>
              <a:t>Eg</a:t>
            </a:r>
            <a:r>
              <a:rPr lang="en-US" dirty="0" smtClean="0"/>
              <a:t>. When </a:t>
            </a:r>
            <a:r>
              <a:rPr lang="en-US" dirty="0"/>
              <a:t>a cow gets a stomach full of grass, it becomes comfortable</a:t>
            </a:r>
            <a:r>
              <a:rPr lang="en-US" dirty="0" smtClean="0"/>
              <a:t>, sits, </a:t>
            </a:r>
            <a:r>
              <a:rPr lang="en-US" dirty="0"/>
              <a:t>and chews the </a:t>
            </a:r>
            <a:r>
              <a:rPr lang="en-US" dirty="0" smtClean="0"/>
              <a:t>cud</a:t>
            </a:r>
          </a:p>
          <a:p>
            <a:r>
              <a:rPr lang="en-US" dirty="0"/>
              <a:t>When a human being has lack </a:t>
            </a:r>
            <a:r>
              <a:rPr lang="en-US" dirty="0" smtClean="0"/>
              <a:t>of physical facility, </a:t>
            </a:r>
            <a:r>
              <a:rPr lang="en-US" dirty="0"/>
              <a:t>he </a:t>
            </a:r>
            <a:r>
              <a:rPr lang="en-US" dirty="0" smtClean="0"/>
              <a:t>becomes uncomfortable </a:t>
            </a:r>
            <a:r>
              <a:rPr lang="en-US" dirty="0"/>
              <a:t>and </a:t>
            </a:r>
            <a:r>
              <a:rPr lang="en-US" dirty="0" smtClean="0"/>
              <a:t>unhappy </a:t>
            </a:r>
          </a:p>
          <a:p>
            <a:r>
              <a:rPr lang="en-US" dirty="0" smtClean="0"/>
              <a:t>But </a:t>
            </a:r>
            <a:r>
              <a:rPr lang="en-US" dirty="0"/>
              <a:t>once he gets </a:t>
            </a:r>
            <a:r>
              <a:rPr lang="en-US" dirty="0" smtClean="0"/>
              <a:t>the physical facility, </a:t>
            </a:r>
            <a:r>
              <a:rPr lang="en-US" dirty="0"/>
              <a:t>he forgets about it and </a:t>
            </a:r>
            <a:r>
              <a:rPr lang="en-US" dirty="0" smtClean="0"/>
              <a:t>starts thinking </a:t>
            </a:r>
            <a:r>
              <a:rPr lang="en-US" dirty="0"/>
              <a:t>about </a:t>
            </a:r>
            <a:r>
              <a:rPr lang="en-US" dirty="0">
                <a:solidFill>
                  <a:srgbClr val="FF0000"/>
                </a:solidFill>
              </a:rPr>
              <a:t>hundred other things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847009" y="2990526"/>
            <a:ext cx="4839615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400" dirty="0" smtClean="0"/>
              <a:t>(</a:t>
            </a:r>
            <a:r>
              <a:rPr lang="en-US" sz="2400" dirty="0"/>
              <a:t>Check for yourself if you feel happy every day that you are getting enough to eat</a:t>
            </a:r>
            <a:r>
              <a:rPr lang="en-US" sz="2400" dirty="0" smtClean="0"/>
              <a:t>?)</a:t>
            </a:r>
          </a:p>
          <a:p>
            <a:r>
              <a:rPr lang="en-US" sz="2400" dirty="0" smtClean="0"/>
              <a:t>Clothes, shoes, </a:t>
            </a:r>
            <a:r>
              <a:rPr lang="en-US" sz="2400" dirty="0" err="1" smtClean="0"/>
              <a:t>etc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6769535" y="4827814"/>
            <a:ext cx="4917089" cy="120032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+mj-lt"/>
              </a:rPr>
              <a:t>Physical facility is necessary for human </a:t>
            </a: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being </a:t>
            </a:r>
            <a:r>
              <a:rPr lang="en-IN" sz="2400" dirty="0" smtClean="0">
                <a:solidFill>
                  <a:srgbClr val="000000"/>
                </a:solidFill>
                <a:latin typeface="+mj-lt"/>
              </a:rPr>
              <a:t>but </a:t>
            </a:r>
            <a:r>
              <a:rPr lang="en-US" sz="2400" dirty="0" smtClean="0">
                <a:solidFill>
                  <a:srgbClr val="000000"/>
                </a:solidFill>
                <a:latin typeface="+mj-lt"/>
              </a:rPr>
              <a:t>something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more is also required</a:t>
            </a:r>
            <a:endParaRPr lang="en-IN" sz="2400" dirty="0">
              <a:latin typeface="+mj-lt"/>
            </a:endParaRPr>
          </a:p>
        </p:txBody>
      </p:sp>
      <p:pic>
        <p:nvPicPr>
          <p:cNvPr id="3074" name="Picture 2" descr="Physical Facilities - Samten Memorial Educational Acade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415" y="357896"/>
            <a:ext cx="3996209" cy="228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94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2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714132" y="1832193"/>
            <a:ext cx="3744416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4" y="274638"/>
            <a:ext cx="10899116" cy="1092096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dirty="0" smtClean="0"/>
              <a:t>Check our Understanding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59496" y="1829978"/>
            <a:ext cx="28083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</a:rPr>
              <a:t>Relationship</a:t>
            </a: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with </a:t>
            </a:r>
            <a:r>
              <a:rPr lang="en-IN" sz="2000" b="1" dirty="0">
                <a:solidFill>
                  <a:schemeClr val="bg1"/>
                </a:solidFill>
              </a:rPr>
              <a:t>human being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07768" y="3018804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3" name="Rectangle 12"/>
          <p:cNvSpPr/>
          <p:nvPr/>
        </p:nvSpPr>
        <p:spPr>
          <a:xfrm>
            <a:off x="1251386" y="5471085"/>
            <a:ext cx="9911083" cy="461665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*Working on the high priority makes it easier to deal with the lower priority</a:t>
            </a:r>
            <a:endParaRPr lang="en-IN"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1262071" y="3184176"/>
            <a:ext cx="1368152" cy="8033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Are all 3 required?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2505662" y="4186619"/>
            <a:ext cx="1656184" cy="821222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Is something redundant?</a:t>
            </a:r>
            <a:endParaRPr lang="en-IN" sz="2000" dirty="0"/>
          </a:p>
        </p:txBody>
      </p:sp>
      <p:sp>
        <p:nvSpPr>
          <p:cNvPr id="9" name="Oval 8"/>
          <p:cNvSpPr/>
          <p:nvPr/>
        </p:nvSpPr>
        <p:spPr>
          <a:xfrm>
            <a:off x="4489996" y="4127923"/>
            <a:ext cx="2448272" cy="93610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Is anything more required</a:t>
            </a:r>
            <a:r>
              <a:rPr lang="en-US" sz="2000" dirty="0" smtClean="0">
                <a:solidFill>
                  <a:srgbClr val="000000"/>
                </a:solidFill>
              </a:rPr>
              <a:t>?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241286" y="3626630"/>
            <a:ext cx="1813826" cy="821222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Are we working on all 3?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26979" y="3720098"/>
            <a:ext cx="2016224" cy="145550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If all 3 are required, what would be the priority*?</a:t>
            </a:r>
          </a:p>
        </p:txBody>
      </p:sp>
      <p:sp>
        <p:nvSpPr>
          <p:cNvPr id="16" name="Oval 15"/>
          <p:cNvSpPr/>
          <p:nvPr/>
        </p:nvSpPr>
        <p:spPr>
          <a:xfrm>
            <a:off x="1269618" y="1867777"/>
            <a:ext cx="546869" cy="5040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438593" y="2001886"/>
            <a:ext cx="546869" cy="5040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64833" y="2858977"/>
            <a:ext cx="546869" cy="5040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38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 animBg="1"/>
      <p:bldP spid="7" grpId="0" animBg="1"/>
      <p:bldP spid="9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00FF"/>
                </a:solidFill>
              </a:rPr>
              <a:t>A Situation</a:t>
            </a:r>
            <a:endParaRPr lang="en-IN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3600" dirty="0" smtClean="0">
                <a:solidFill>
                  <a:srgbClr val="FF0000"/>
                </a:solidFill>
              </a:rPr>
              <a:t>Mother working in a kitchen</a:t>
            </a:r>
          </a:p>
          <a:p>
            <a:r>
              <a:rPr lang="en-IN" sz="3600" dirty="0" smtClean="0">
                <a:solidFill>
                  <a:srgbClr val="FF0000"/>
                </a:solidFill>
              </a:rPr>
              <a:t>Her 2 sons (aged 5 and 8 are playing cricket outside)</a:t>
            </a:r>
          </a:p>
          <a:p>
            <a:r>
              <a:rPr lang="en-IN" sz="3600" dirty="0" smtClean="0">
                <a:solidFill>
                  <a:srgbClr val="FF0000"/>
                </a:solidFill>
              </a:rPr>
              <a:t>Heard a sound of shattered window pane</a:t>
            </a:r>
          </a:p>
          <a:p>
            <a:r>
              <a:rPr lang="en-IN" sz="3600" dirty="0" smtClean="0">
                <a:solidFill>
                  <a:srgbClr val="FF0000"/>
                </a:solidFill>
              </a:rPr>
              <a:t>Went outside</a:t>
            </a:r>
          </a:p>
          <a:p>
            <a:endParaRPr lang="en-IN" sz="3600" dirty="0">
              <a:solidFill>
                <a:srgbClr val="FF0000"/>
              </a:solidFill>
            </a:endParaRPr>
          </a:p>
          <a:p>
            <a:pPr algn="ctr"/>
            <a:r>
              <a:rPr lang="en-IN" sz="3600" dirty="0" smtClean="0">
                <a:solidFill>
                  <a:srgbClr val="FF0000"/>
                </a:solidFill>
              </a:rPr>
              <a:t>What’s Next?</a:t>
            </a:r>
          </a:p>
          <a:p>
            <a:pPr algn="ctr"/>
            <a:r>
              <a:rPr lang="en-IN" sz="3600" dirty="0" smtClean="0">
                <a:solidFill>
                  <a:srgbClr val="FF0000"/>
                </a:solidFill>
              </a:rPr>
              <a:t>(How she’s going to react with the right understanding?)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001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986" y="207474"/>
            <a:ext cx="10873207" cy="9537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 smtClean="0"/>
              <a:t>Lets Prioritize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359696" y="1486525"/>
            <a:ext cx="3744416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1631504" y="2935490"/>
            <a:ext cx="28083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</a:rPr>
              <a:t>Relationship</a:t>
            </a: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with </a:t>
            </a:r>
            <a:r>
              <a:rPr lang="en-IN" sz="2000" b="1" dirty="0">
                <a:solidFill>
                  <a:schemeClr val="bg1"/>
                </a:solidFill>
              </a:rPr>
              <a:t>human being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7251" y="2936346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0" name="Rectangle 9"/>
          <p:cNvSpPr/>
          <p:nvPr/>
        </p:nvSpPr>
        <p:spPr>
          <a:xfrm>
            <a:off x="1756156" y="4136531"/>
            <a:ext cx="9596427" cy="1200329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Are all 3 required? Is something redundant? Is anything more required?</a:t>
            </a:r>
          </a:p>
          <a:p>
            <a:r>
              <a:rPr lang="en-US" sz="2400" dirty="0">
                <a:solidFill>
                  <a:srgbClr val="000000"/>
                </a:solidFill>
              </a:rPr>
              <a:t>Are we working on all 3?</a:t>
            </a:r>
          </a:p>
          <a:p>
            <a:r>
              <a:rPr lang="en-US" sz="2400" dirty="0">
                <a:solidFill>
                  <a:srgbClr val="000000"/>
                </a:solidFill>
              </a:rPr>
              <a:t>If all 3 are required, what would be the priority*?</a:t>
            </a:r>
            <a:endParaRPr lang="en-IN" sz="2400" dirty="0"/>
          </a:p>
        </p:txBody>
      </p:sp>
      <p:sp>
        <p:nvSpPr>
          <p:cNvPr id="11" name="Rectangle 10"/>
          <p:cNvSpPr/>
          <p:nvPr/>
        </p:nvSpPr>
        <p:spPr>
          <a:xfrm>
            <a:off x="1532120" y="5473576"/>
            <a:ext cx="9820463" cy="461665"/>
          </a:xfrm>
          <a:prstGeom prst="rect">
            <a:avLst/>
          </a:prstGeom>
          <a:solidFill>
            <a:srgbClr val="9900FF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*Working on the high priority makes it easier to deal with the lower priority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04442" y="1706476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09288" y="3127118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59674" y="3140968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97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2904442" y="1686812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?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09288" y="310745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?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59674" y="312130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718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 smtClean="0"/>
              <a:t>Priority: Physical Facility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60900" y="1457159"/>
            <a:ext cx="3744416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1773720" y="2910424"/>
            <a:ext cx="2808312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Relationship</a:t>
            </a:r>
            <a:endParaRPr lang="en-IN" sz="2800" dirty="0"/>
          </a:p>
          <a:p>
            <a:pPr algn="ctr"/>
            <a:r>
              <a:rPr lang="en-IN" sz="2000" b="1" dirty="0" smtClean="0"/>
              <a:t>with </a:t>
            </a:r>
            <a:r>
              <a:rPr lang="en-IN" sz="2000" b="1" dirty="0"/>
              <a:t>human being</a:t>
            </a:r>
            <a:endParaRPr lang="en-IN" sz="2000" dirty="0"/>
          </a:p>
        </p:txBody>
      </p:sp>
      <p:sp>
        <p:nvSpPr>
          <p:cNvPr id="9" name="Rectangle 8"/>
          <p:cNvSpPr/>
          <p:nvPr/>
        </p:nvSpPr>
        <p:spPr>
          <a:xfrm>
            <a:off x="5606543" y="2924585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8" name="Rectangle 17"/>
          <p:cNvSpPr/>
          <p:nvPr/>
        </p:nvSpPr>
        <p:spPr>
          <a:xfrm>
            <a:off x="1465072" y="4706117"/>
            <a:ext cx="3141181" cy="830997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Unhappiness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Makes others Unhappy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66810" y="4692349"/>
            <a:ext cx="2306465" cy="1200329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Deprivation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Exploiting </a:t>
            </a:r>
            <a:r>
              <a:rPr lang="en-IN" sz="2400" b="1" dirty="0">
                <a:solidFill>
                  <a:srgbClr val="FF0000"/>
                </a:solidFill>
              </a:rPr>
              <a:t>and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</a:rPr>
              <a:t>Depriving others</a:t>
            </a:r>
            <a:endParaRPr lang="en-IN" sz="2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>
            <a:stCxn id="7" idx="2"/>
            <a:endCxn id="8" idx="0"/>
          </p:cNvCxnSpPr>
          <p:nvPr/>
        </p:nvCxnSpPr>
        <p:spPr>
          <a:xfrm flipH="1">
            <a:off x="3035660" y="2317522"/>
            <a:ext cx="2196244" cy="6179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9" idx="0"/>
          </p:cNvCxnSpPr>
          <p:nvPr/>
        </p:nvCxnSpPr>
        <p:spPr>
          <a:xfrm>
            <a:off x="5231904" y="2317522"/>
            <a:ext cx="1686173" cy="618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9" idx="0"/>
          </p:cNvCxnSpPr>
          <p:nvPr/>
        </p:nvCxnSpPr>
        <p:spPr>
          <a:xfrm>
            <a:off x="6918077" y="3767343"/>
            <a:ext cx="1966" cy="9250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18" idx="0"/>
          </p:cNvCxnSpPr>
          <p:nvPr/>
        </p:nvCxnSpPr>
        <p:spPr>
          <a:xfrm>
            <a:off x="3035660" y="3766487"/>
            <a:ext cx="3" cy="939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5059674" y="2410734"/>
            <a:ext cx="3672408" cy="201622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2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65200" y="1063402"/>
            <a:ext cx="7200800" cy="1815882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In the society, we can observe two categories of human </a:t>
            </a:r>
            <a:r>
              <a:rPr lang="en-US" sz="2800" dirty="0" smtClean="0"/>
              <a:t>beings</a:t>
            </a:r>
            <a:endParaRPr lang="en-IN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/>
              <a:t>Lacking physical facility, unhappy </a:t>
            </a:r>
            <a:r>
              <a:rPr lang="en-US" sz="2800" dirty="0" smtClean="0"/>
              <a:t>deprived</a:t>
            </a:r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 smtClean="0"/>
              <a:t>Having </a:t>
            </a:r>
            <a:r>
              <a:rPr lang="en-US" sz="2800" dirty="0"/>
              <a:t>physical facility, unhappy </a:t>
            </a:r>
            <a:r>
              <a:rPr lang="en-US" sz="2800" dirty="0" smtClean="0"/>
              <a:t>deprived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5663952" y="4832607"/>
            <a:ext cx="5918448" cy="138499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Find out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/>
              <a:t>Where </a:t>
            </a:r>
            <a:r>
              <a:rPr lang="en-US" sz="2800" dirty="0"/>
              <a:t>are we now –at 1, 2 or 3 and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/>
              <a:t>Where </a:t>
            </a:r>
            <a:r>
              <a:rPr lang="en-US" sz="2800" dirty="0"/>
              <a:t>do we want to be?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1226" y="3369135"/>
            <a:ext cx="5843300" cy="1384995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r>
              <a:rPr lang="en-US" sz="2800" dirty="0" smtClean="0"/>
              <a:t>While </a:t>
            </a:r>
            <a:r>
              <a:rPr lang="en-US" sz="2800" dirty="0"/>
              <a:t>we want to be </a:t>
            </a:r>
            <a:r>
              <a:rPr lang="en-US" sz="2800" dirty="0" smtClean="0"/>
              <a:t>–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 smtClean="0"/>
              <a:t>Having </a:t>
            </a:r>
            <a:r>
              <a:rPr lang="en-US" sz="2800" dirty="0"/>
              <a:t>physical facility, happy </a:t>
            </a:r>
            <a:r>
              <a:rPr lang="en-US" sz="2800" dirty="0" smtClean="0"/>
              <a:t>prosperous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5109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2904442" y="1686812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09288" y="310745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59674" y="312130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60900" y="1423198"/>
            <a:ext cx="3744416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1789971" y="2936345"/>
            <a:ext cx="28083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</a:rPr>
              <a:t>Relationship</a:t>
            </a: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with </a:t>
            </a:r>
            <a:r>
              <a:rPr lang="en-IN" sz="2000" b="1" dirty="0">
                <a:solidFill>
                  <a:schemeClr val="bg1"/>
                </a:solidFill>
              </a:rPr>
              <a:t>human being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06543" y="2943983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8" name="Rectangle 17"/>
          <p:cNvSpPr/>
          <p:nvPr/>
        </p:nvSpPr>
        <p:spPr>
          <a:xfrm>
            <a:off x="2219571" y="4706117"/>
            <a:ext cx="1632178" cy="830997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Happiness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5516" y="4692349"/>
            <a:ext cx="1669047" cy="830997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Prosperity</a:t>
            </a:r>
            <a:endParaRPr lang="en-IN" sz="2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3077219" y="2312122"/>
            <a:ext cx="2196244" cy="6179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9" idx="0"/>
          </p:cNvCxnSpPr>
          <p:nvPr/>
        </p:nvCxnSpPr>
        <p:spPr>
          <a:xfrm>
            <a:off x="5231904" y="2317522"/>
            <a:ext cx="1686173" cy="618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9" idx="0"/>
          </p:cNvCxnSpPr>
          <p:nvPr/>
        </p:nvCxnSpPr>
        <p:spPr>
          <a:xfrm>
            <a:off x="6918077" y="3767343"/>
            <a:ext cx="1963" cy="9250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18" idx="0"/>
          </p:cNvCxnSpPr>
          <p:nvPr/>
        </p:nvCxnSpPr>
        <p:spPr>
          <a:xfrm>
            <a:off x="3035660" y="3766487"/>
            <a:ext cx="0" cy="939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636" y="5370503"/>
            <a:ext cx="538361" cy="59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6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280" y="2417445"/>
            <a:ext cx="105156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IN" dirty="0" smtClean="0"/>
              <a:t>Development of Human </a:t>
            </a:r>
            <a:r>
              <a:rPr lang="en-IN" dirty="0" err="1" smtClean="0"/>
              <a:t>Consiousness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584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2904442" y="1686812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09288" y="310745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59674" y="312130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60900" y="1482185"/>
            <a:ext cx="3744416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1782827" y="2936345"/>
            <a:ext cx="28083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</a:rPr>
              <a:t>Relationship</a:t>
            </a: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with </a:t>
            </a:r>
            <a:r>
              <a:rPr lang="en-IN" sz="2000" b="1" dirty="0">
                <a:solidFill>
                  <a:schemeClr val="bg1"/>
                </a:solidFill>
              </a:rPr>
              <a:t>human being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30871" y="2903087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8" name="Rectangle 17"/>
          <p:cNvSpPr/>
          <p:nvPr/>
        </p:nvSpPr>
        <p:spPr>
          <a:xfrm>
            <a:off x="2219571" y="4706117"/>
            <a:ext cx="1632178" cy="830997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Happiness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5516" y="4692349"/>
            <a:ext cx="1669047" cy="830997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Prosperity</a:t>
            </a:r>
            <a:endParaRPr lang="en-IN" sz="2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3035660" y="2313182"/>
            <a:ext cx="2196244" cy="6179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9" idx="0"/>
          </p:cNvCxnSpPr>
          <p:nvPr/>
        </p:nvCxnSpPr>
        <p:spPr>
          <a:xfrm>
            <a:off x="5231904" y="2317522"/>
            <a:ext cx="1686173" cy="618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9" idx="0"/>
          </p:cNvCxnSpPr>
          <p:nvPr/>
        </p:nvCxnSpPr>
        <p:spPr>
          <a:xfrm>
            <a:off x="6918077" y="3767343"/>
            <a:ext cx="1963" cy="9250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18" idx="0"/>
          </p:cNvCxnSpPr>
          <p:nvPr/>
        </p:nvCxnSpPr>
        <p:spPr>
          <a:xfrm>
            <a:off x="3035660" y="3766487"/>
            <a:ext cx="0" cy="939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39416" y="1134778"/>
            <a:ext cx="8252706" cy="3325919"/>
          </a:xfrm>
          <a:prstGeom prst="ellipse">
            <a:avLst/>
          </a:prstGeom>
          <a:noFill/>
          <a:ln w="571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092122" y="1068260"/>
            <a:ext cx="2991099" cy="954107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Human</a:t>
            </a:r>
          </a:p>
          <a:p>
            <a:r>
              <a:rPr lang="en-IN" sz="2800" b="1" dirty="0"/>
              <a:t>Consciousness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2122" y="2031203"/>
            <a:ext cx="2991099" cy="3477875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If we are living with</a:t>
            </a:r>
          </a:p>
          <a:p>
            <a:r>
              <a:rPr lang="en-US" sz="2000" dirty="0"/>
              <a:t>all </a:t>
            </a:r>
            <a:r>
              <a:rPr lang="en-US" sz="2000" dirty="0" smtClean="0"/>
              <a:t>three (right understanding, relationship and physical </a:t>
            </a:r>
            <a:r>
              <a:rPr lang="en-US" sz="2000" dirty="0"/>
              <a:t>facility, </a:t>
            </a:r>
            <a:r>
              <a:rPr lang="en-US" sz="2000" dirty="0" smtClean="0"/>
              <a:t>in that </a:t>
            </a:r>
            <a:r>
              <a:rPr lang="en-US" sz="2000" dirty="0"/>
              <a:t>priority order</a:t>
            </a:r>
            <a:r>
              <a:rPr lang="en-US" sz="2000" dirty="0" smtClean="0"/>
              <a:t>) then </a:t>
            </a:r>
            <a:r>
              <a:rPr lang="en-US" sz="2000" dirty="0"/>
              <a:t>we are </a:t>
            </a:r>
            <a:r>
              <a:rPr lang="en-US" sz="2000" dirty="0" smtClean="0"/>
              <a:t>living with human consciousness. Human </a:t>
            </a:r>
            <a:r>
              <a:rPr lang="en-US" sz="2000" dirty="0"/>
              <a:t>being </a:t>
            </a:r>
            <a:r>
              <a:rPr lang="en-US" sz="2000" dirty="0" smtClean="0"/>
              <a:t>can be fulfilled (</a:t>
            </a:r>
            <a:r>
              <a:rPr lang="en-US" sz="2000" dirty="0"/>
              <a:t>be happy </a:t>
            </a:r>
            <a:r>
              <a:rPr lang="en-US" sz="2000" dirty="0" smtClean="0"/>
              <a:t>and prosperous) on </a:t>
            </a:r>
            <a:r>
              <a:rPr lang="en-US" sz="2000" dirty="0"/>
              <a:t>the basis </a:t>
            </a:r>
            <a:r>
              <a:rPr lang="en-US" sz="2000" dirty="0" smtClean="0"/>
              <a:t>of these three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2411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2904442" y="1686812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1209288" y="310745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59674" y="3121304"/>
            <a:ext cx="546869" cy="5040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2279"/>
          </a:xfrm>
        </p:spPr>
        <p:txBody>
          <a:bodyPr/>
          <a:lstStyle/>
          <a:p>
            <a:pPr algn="ctr"/>
            <a:r>
              <a:rPr lang="en-US" dirty="0"/>
              <a:t>Requirement to fulfill Basic Aspiration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60900" y="1464182"/>
            <a:ext cx="3744416" cy="830997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Right Understanding 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in the self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1816519" y="2957833"/>
            <a:ext cx="2808312" cy="83099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>
                <a:solidFill>
                  <a:schemeClr val="bg1"/>
                </a:solidFill>
              </a:rPr>
              <a:t>Relationship</a:t>
            </a: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with </a:t>
            </a:r>
            <a:r>
              <a:rPr lang="en-IN" sz="2000" b="1" dirty="0">
                <a:solidFill>
                  <a:schemeClr val="bg1"/>
                </a:solidFill>
              </a:rPr>
              <a:t>human being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45147" y="2936131"/>
            <a:ext cx="2861651" cy="830997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Physical Facility</a:t>
            </a:r>
            <a:endParaRPr lang="en-IN" sz="2800" dirty="0"/>
          </a:p>
          <a:p>
            <a:pPr algn="ctr"/>
            <a:r>
              <a:rPr lang="en-IN" sz="2000" b="1" dirty="0" smtClean="0"/>
              <a:t>With rest of nature</a:t>
            </a:r>
            <a:endParaRPr lang="en-IN" sz="2000" dirty="0"/>
          </a:p>
        </p:txBody>
      </p:sp>
      <p:sp>
        <p:nvSpPr>
          <p:cNvPr id="18" name="Rectangle 17"/>
          <p:cNvSpPr/>
          <p:nvPr/>
        </p:nvSpPr>
        <p:spPr>
          <a:xfrm>
            <a:off x="2219571" y="4706117"/>
            <a:ext cx="1632178" cy="830997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Happiness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85516" y="4692349"/>
            <a:ext cx="1669047" cy="830997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Mutual </a:t>
            </a:r>
          </a:p>
          <a:p>
            <a:pPr algn="ctr"/>
            <a:r>
              <a:rPr lang="en-IN" sz="2400" b="1" dirty="0" smtClean="0">
                <a:solidFill>
                  <a:srgbClr val="FF0000"/>
                </a:solidFill>
              </a:rPr>
              <a:t>Prosperity</a:t>
            </a:r>
            <a:endParaRPr lang="en-IN" sz="2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>
            <a:stCxn id="7" idx="2"/>
            <a:endCxn id="8" idx="0"/>
          </p:cNvCxnSpPr>
          <p:nvPr/>
        </p:nvCxnSpPr>
        <p:spPr>
          <a:xfrm flipH="1">
            <a:off x="3035660" y="2317522"/>
            <a:ext cx="2196244" cy="6179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2"/>
            <a:endCxn id="9" idx="0"/>
          </p:cNvCxnSpPr>
          <p:nvPr/>
        </p:nvCxnSpPr>
        <p:spPr>
          <a:xfrm>
            <a:off x="5231904" y="2317522"/>
            <a:ext cx="1686173" cy="618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2"/>
            <a:endCxn id="19" idx="0"/>
          </p:cNvCxnSpPr>
          <p:nvPr/>
        </p:nvCxnSpPr>
        <p:spPr>
          <a:xfrm>
            <a:off x="6918077" y="3767343"/>
            <a:ext cx="1963" cy="9250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18" idx="0"/>
          </p:cNvCxnSpPr>
          <p:nvPr/>
        </p:nvCxnSpPr>
        <p:spPr>
          <a:xfrm>
            <a:off x="3035660" y="3766487"/>
            <a:ext cx="0" cy="9396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39416" y="1134778"/>
            <a:ext cx="8252706" cy="3325919"/>
          </a:xfrm>
          <a:prstGeom prst="ellipse">
            <a:avLst/>
          </a:prstGeom>
          <a:noFill/>
          <a:ln w="571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092122" y="1068260"/>
            <a:ext cx="2991099" cy="954107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Desirable State</a:t>
            </a:r>
          </a:p>
          <a:p>
            <a:r>
              <a:rPr lang="en-IN" sz="2800" b="1" dirty="0"/>
              <a:t>= fulfilling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2122" y="2031203"/>
            <a:ext cx="2991099" cy="3477875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If we are living with</a:t>
            </a:r>
          </a:p>
          <a:p>
            <a:r>
              <a:rPr lang="en-US" sz="2000" dirty="0"/>
              <a:t>all </a:t>
            </a:r>
            <a:r>
              <a:rPr lang="en-US" sz="2000" dirty="0" smtClean="0"/>
              <a:t>three (right understanding, relationship and physical </a:t>
            </a:r>
            <a:r>
              <a:rPr lang="en-US" sz="2000" dirty="0"/>
              <a:t>facility, </a:t>
            </a:r>
            <a:r>
              <a:rPr lang="en-US" sz="2000" dirty="0" smtClean="0"/>
              <a:t>in that </a:t>
            </a:r>
            <a:r>
              <a:rPr lang="en-US" sz="2000" dirty="0"/>
              <a:t>priority order</a:t>
            </a:r>
            <a:r>
              <a:rPr lang="en-US" sz="2000" dirty="0" smtClean="0"/>
              <a:t>) then </a:t>
            </a:r>
            <a:r>
              <a:rPr lang="en-US" sz="2000" dirty="0"/>
              <a:t>we are </a:t>
            </a:r>
            <a:r>
              <a:rPr lang="en-US" sz="2000" dirty="0" smtClean="0"/>
              <a:t>living with human consciousness. Human </a:t>
            </a:r>
            <a:r>
              <a:rPr lang="en-US" sz="2000" dirty="0"/>
              <a:t>being </a:t>
            </a:r>
            <a:r>
              <a:rPr lang="en-US" sz="2000" dirty="0" smtClean="0"/>
              <a:t>can be fulfilled (</a:t>
            </a:r>
            <a:r>
              <a:rPr lang="en-US" sz="2000" dirty="0"/>
              <a:t>be happy </a:t>
            </a:r>
            <a:r>
              <a:rPr lang="en-US" sz="2000" dirty="0" smtClean="0"/>
              <a:t>and prosperous) on </a:t>
            </a:r>
            <a:r>
              <a:rPr lang="en-US" sz="2000" dirty="0"/>
              <a:t>the basis </a:t>
            </a:r>
            <a:r>
              <a:rPr lang="en-US" sz="2000" dirty="0" smtClean="0"/>
              <a:t>of these three</a:t>
            </a:r>
            <a:endParaRPr lang="en-IN" sz="2000" dirty="0"/>
          </a:p>
        </p:txBody>
      </p:sp>
      <p:sp>
        <p:nvSpPr>
          <p:cNvPr id="21" name="TextBox 18"/>
          <p:cNvSpPr txBox="1">
            <a:spLocks noChangeArrowheads="1"/>
          </p:cNvSpPr>
          <p:nvPr/>
        </p:nvSpPr>
        <p:spPr bwMode="auto">
          <a:xfrm>
            <a:off x="1181160" y="1989799"/>
            <a:ext cx="155134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Feeling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- Trust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- Respect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</a:rPr>
              <a:t>- …</a:t>
            </a:r>
          </a:p>
        </p:txBody>
      </p:sp>
    </p:spTree>
    <p:extLst>
      <p:ext uri="{BB962C8B-B14F-4D97-AF65-F5344CB8AC3E}">
        <p14:creationId xmlns:p14="http://schemas.microsoft.com/office/powerpoint/2010/main" val="120134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/>
              <a:t>Since we generally don’t have clarity about our physical needs…</a:t>
            </a:r>
            <a:endParaRPr lang="en-I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609505"/>
              </p:ext>
            </p:extLst>
          </p:nvPr>
        </p:nvGraphicFramePr>
        <p:xfrm>
          <a:off x="838200" y="2222319"/>
          <a:ext cx="96138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633">
                  <a:extLst>
                    <a:ext uri="{9D8B030D-6E8A-4147-A177-3AD203B41FA5}">
                      <a16:colId xmlns:a16="http://schemas.microsoft.com/office/drawing/2014/main" val="2847018423"/>
                    </a:ext>
                  </a:extLst>
                </a:gridCol>
                <a:gridCol w="3722497">
                  <a:extLst>
                    <a:ext uri="{9D8B030D-6E8A-4147-A177-3AD203B41FA5}">
                      <a16:colId xmlns:a16="http://schemas.microsoft.com/office/drawing/2014/main" val="2699993970"/>
                    </a:ext>
                  </a:extLst>
                </a:gridCol>
                <a:gridCol w="2686769">
                  <a:extLst>
                    <a:ext uri="{9D8B030D-6E8A-4147-A177-3AD203B41FA5}">
                      <a16:colId xmlns:a16="http://schemas.microsoft.com/office/drawing/2014/main" val="3167931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Animals living with </a:t>
                      </a:r>
                    </a:p>
                    <a:p>
                      <a:r>
                        <a:rPr lang="en-IN" sz="24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animal consciousness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they are in harmony	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this is fine	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4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Human being living with human consciousness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they are in harmony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is fine	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76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Human being living with animal consciousness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they are in disharmony	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is the problem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27281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9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Transformation 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= Development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26</a:t>
            </a:fld>
            <a:endParaRPr lang="en-IN"/>
          </a:p>
        </p:txBody>
      </p:sp>
      <p:grpSp>
        <p:nvGrpSpPr>
          <p:cNvPr id="20" name="Group 19"/>
          <p:cNvGrpSpPr/>
          <p:nvPr/>
        </p:nvGrpSpPr>
        <p:grpSpPr>
          <a:xfrm>
            <a:off x="633224" y="3717032"/>
            <a:ext cx="4094624" cy="2366231"/>
            <a:chOff x="1209288" y="1486525"/>
            <a:chExt cx="7522794" cy="4000019"/>
          </a:xfrm>
        </p:grpSpPr>
        <p:sp>
          <p:nvSpPr>
            <p:cNvPr id="7" name="Oval 6"/>
            <p:cNvSpPr/>
            <p:nvPr/>
          </p:nvSpPr>
          <p:spPr>
            <a:xfrm>
              <a:off x="2904442" y="1686812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?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209288" y="310745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?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059674" y="312130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1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59697" y="1486525"/>
              <a:ext cx="3744415" cy="78042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Right Understanding </a:t>
              </a:r>
              <a:r>
                <a:rPr lang="en-US" sz="1200" b="1" dirty="0" smtClean="0"/>
                <a:t>in the self</a:t>
              </a:r>
              <a:endParaRPr lang="en-IN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31503" y="2935489"/>
              <a:ext cx="2808312" cy="78042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 smtClean="0"/>
                <a:t>Relationship</a:t>
              </a:r>
              <a:endParaRPr lang="en-IN" sz="1200" dirty="0"/>
            </a:p>
            <a:p>
              <a:pPr algn="ctr"/>
              <a:r>
                <a:rPr lang="en-IN" sz="1200" b="1" dirty="0" smtClean="0"/>
                <a:t>with </a:t>
              </a:r>
              <a:r>
                <a:rPr lang="en-IN" sz="1200" b="1" dirty="0"/>
                <a:t>human being</a:t>
              </a:r>
              <a:endParaRPr lang="en-IN" sz="12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487252" y="2936346"/>
              <a:ext cx="2861651" cy="780426"/>
            </a:xfrm>
            <a:prstGeom prst="rect">
              <a:avLst/>
            </a:prstGeom>
            <a:solidFill>
              <a:srgbClr val="00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 smtClean="0"/>
                <a:t>Physical Facility</a:t>
              </a:r>
              <a:endParaRPr lang="en-IN" sz="1200" dirty="0"/>
            </a:p>
            <a:p>
              <a:pPr algn="ctr"/>
              <a:r>
                <a:rPr lang="en-IN" sz="1200" b="1" dirty="0" smtClean="0"/>
                <a:t>With rest of nature</a:t>
              </a:r>
              <a:endParaRPr lang="en-IN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80223" y="4706118"/>
              <a:ext cx="3310877" cy="780426"/>
            </a:xfrm>
            <a:prstGeom prst="rect">
              <a:avLst/>
            </a:prstGeom>
            <a:solidFill>
              <a:srgbClr val="FFCC99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Unhappy </a:t>
              </a:r>
            </a:p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Makes others Unhappy</a:t>
              </a:r>
              <a:endParaRPr lang="en-IN" sz="1200" dirty="0">
                <a:solidFill>
                  <a:srgbClr val="FF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51881" y="4692350"/>
              <a:ext cx="2536316" cy="780426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sz="1200" b="1" dirty="0">
                  <a:solidFill>
                    <a:srgbClr val="FF0000"/>
                  </a:solidFill>
                </a:rPr>
                <a:t>Exploiting and</a:t>
              </a:r>
            </a:p>
            <a:p>
              <a:pPr algn="ctr"/>
              <a:r>
                <a:rPr lang="en-IN" sz="1200" b="1" dirty="0">
                  <a:solidFill>
                    <a:srgbClr val="FF0000"/>
                  </a:solidFill>
                </a:rPr>
                <a:t>Depriving others</a:t>
              </a:r>
              <a:endParaRPr lang="en-IN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0" idx="2"/>
              <a:endCxn id="11" idx="0"/>
            </p:cNvCxnSpPr>
            <p:nvPr/>
          </p:nvCxnSpPr>
          <p:spPr>
            <a:xfrm flipH="1">
              <a:off x="3035659" y="2266951"/>
              <a:ext cx="2196246" cy="66853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0" idx="2"/>
              <a:endCxn id="12" idx="0"/>
            </p:cNvCxnSpPr>
            <p:nvPr/>
          </p:nvCxnSpPr>
          <p:spPr>
            <a:xfrm>
              <a:off x="5231905" y="2266951"/>
              <a:ext cx="1686172" cy="66939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2"/>
              <a:endCxn id="14" idx="0"/>
            </p:cNvCxnSpPr>
            <p:nvPr/>
          </p:nvCxnSpPr>
          <p:spPr>
            <a:xfrm>
              <a:off x="6918077" y="3716773"/>
              <a:ext cx="1962" cy="97557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2"/>
              <a:endCxn id="13" idx="0"/>
            </p:cNvCxnSpPr>
            <p:nvPr/>
          </p:nvCxnSpPr>
          <p:spPr>
            <a:xfrm>
              <a:off x="3035659" y="3715916"/>
              <a:ext cx="2" cy="9902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59674" y="2410734"/>
              <a:ext cx="3672408" cy="2016224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813396" y="323685"/>
            <a:ext cx="3981094" cy="2328748"/>
            <a:chOff x="1209288" y="1486525"/>
            <a:chExt cx="7139614" cy="4015686"/>
          </a:xfrm>
        </p:grpSpPr>
        <p:sp>
          <p:nvSpPr>
            <p:cNvPr id="21" name="Oval 20"/>
            <p:cNvSpPr/>
            <p:nvPr/>
          </p:nvSpPr>
          <p:spPr>
            <a:xfrm>
              <a:off x="2904442" y="1686812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1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1209288" y="310745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2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5059674" y="312130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rgbClr val="FF0000"/>
                  </a:solidFill>
                </a:rPr>
                <a:t>3</a:t>
              </a:r>
              <a:endParaRPr lang="en-I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59696" y="1486525"/>
              <a:ext cx="3744416" cy="796094"/>
            </a:xfrm>
            <a:prstGeom prst="rect">
              <a:avLst/>
            </a:prstGeom>
            <a:solidFill>
              <a:srgbClr val="00FF9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Right Understanding </a:t>
              </a:r>
              <a:endParaRPr lang="en-US" sz="1200" b="1" dirty="0" smtClean="0"/>
            </a:p>
            <a:p>
              <a:pPr algn="ctr"/>
              <a:r>
                <a:rPr lang="en-US" sz="1200" b="1" dirty="0" smtClean="0"/>
                <a:t>in the self</a:t>
              </a:r>
              <a:endParaRPr lang="en-IN" sz="12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631503" y="2935490"/>
              <a:ext cx="2808313" cy="796094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schemeClr val="bg1"/>
                  </a:solidFill>
                </a:rPr>
                <a:t>Relationship</a:t>
              </a:r>
              <a:endParaRPr lang="en-IN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IN" sz="1200" b="1" dirty="0" smtClean="0">
                  <a:solidFill>
                    <a:schemeClr val="bg1"/>
                  </a:solidFill>
                </a:rPr>
                <a:t>with </a:t>
              </a:r>
              <a:r>
                <a:rPr lang="en-IN" sz="1200" b="1" dirty="0">
                  <a:solidFill>
                    <a:schemeClr val="bg1"/>
                  </a:solidFill>
                </a:rPr>
                <a:t>human being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7251" y="2936347"/>
              <a:ext cx="2861651" cy="796094"/>
            </a:xfrm>
            <a:prstGeom prst="rect">
              <a:avLst/>
            </a:prstGeom>
            <a:solidFill>
              <a:srgbClr val="00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 smtClean="0"/>
                <a:t>Physical Facility</a:t>
              </a:r>
              <a:endParaRPr lang="en-IN" sz="1200" dirty="0"/>
            </a:p>
            <a:p>
              <a:pPr algn="ctr"/>
              <a:r>
                <a:rPr lang="en-IN" sz="1200" b="1" dirty="0" smtClean="0"/>
                <a:t>With rest of nature</a:t>
              </a:r>
              <a:endParaRPr lang="en-IN" sz="12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220369" y="4706117"/>
              <a:ext cx="1630582" cy="796094"/>
            </a:xfrm>
            <a:prstGeom prst="rect">
              <a:avLst/>
            </a:prstGeom>
            <a:solidFill>
              <a:srgbClr val="FFCC99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Mutual </a:t>
              </a:r>
            </a:p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Happiness</a:t>
              </a:r>
              <a:endParaRPr lang="en-IN" sz="1200" dirty="0">
                <a:solidFill>
                  <a:srgbClr val="FF0000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090375" y="4692349"/>
              <a:ext cx="1659330" cy="796094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Mutual </a:t>
              </a:r>
            </a:p>
            <a:p>
              <a:pPr algn="ctr"/>
              <a:r>
                <a:rPr lang="en-IN" sz="1200" b="1" dirty="0" smtClean="0">
                  <a:solidFill>
                    <a:srgbClr val="FF0000"/>
                  </a:solidFill>
                </a:rPr>
                <a:t>Prosperity</a:t>
              </a:r>
              <a:endParaRPr lang="en-IN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/>
            <p:cNvCxnSpPr>
              <a:stCxn id="24" idx="2"/>
              <a:endCxn id="25" idx="0"/>
            </p:cNvCxnSpPr>
            <p:nvPr/>
          </p:nvCxnSpPr>
          <p:spPr>
            <a:xfrm flipH="1">
              <a:off x="3035661" y="2282619"/>
              <a:ext cx="2196243" cy="65287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4" idx="2"/>
              <a:endCxn id="26" idx="0"/>
            </p:cNvCxnSpPr>
            <p:nvPr/>
          </p:nvCxnSpPr>
          <p:spPr>
            <a:xfrm>
              <a:off x="5231904" y="2282619"/>
              <a:ext cx="1686173" cy="65372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6" idx="2"/>
              <a:endCxn id="28" idx="0"/>
            </p:cNvCxnSpPr>
            <p:nvPr/>
          </p:nvCxnSpPr>
          <p:spPr>
            <a:xfrm>
              <a:off x="6918077" y="3732440"/>
              <a:ext cx="1964" cy="95991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5" idx="2"/>
              <a:endCxn id="27" idx="0"/>
            </p:cNvCxnSpPr>
            <p:nvPr/>
          </p:nvCxnSpPr>
          <p:spPr>
            <a:xfrm>
              <a:off x="3035661" y="3731583"/>
              <a:ext cx="0" cy="97453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3955663" y="5104602"/>
            <a:ext cx="1191365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IN" sz="1200" b="1" dirty="0" smtClean="0">
                <a:solidFill>
                  <a:schemeClr val="bg1"/>
                </a:solidFill>
              </a:rPr>
              <a:t>Animal</a:t>
            </a:r>
            <a:endParaRPr lang="en-IN" sz="1200" b="1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Consciousness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2746" y="692687"/>
            <a:ext cx="1383697" cy="523220"/>
          </a:xfrm>
          <a:prstGeom prst="rect">
            <a:avLst/>
          </a:prstGeom>
          <a:solidFill>
            <a:srgbClr val="FFCC00"/>
          </a:solidFill>
        </p:spPr>
        <p:txBody>
          <a:bodyPr wrap="square">
            <a:spAutoFit/>
          </a:bodyPr>
          <a:lstStyle/>
          <a:p>
            <a:r>
              <a:rPr lang="en-IN" sz="1400" b="1" dirty="0"/>
              <a:t>Human</a:t>
            </a:r>
          </a:p>
          <a:p>
            <a:r>
              <a:rPr lang="en-IN" sz="1400" b="1" dirty="0"/>
              <a:t>Consciousness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5758" y="1484182"/>
            <a:ext cx="5776677" cy="1938992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Is development just in increasing physical facility or development is ensuring of all 3?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</a:rPr>
              <a:t>Is this transformation desirable?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Are we making effort for it?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</a:rPr>
              <a:t>Do we need to make effort for it?</a:t>
            </a:r>
            <a:endParaRPr lang="en-IN" sz="2400" dirty="0"/>
          </a:p>
        </p:txBody>
      </p:sp>
      <p:sp>
        <p:nvSpPr>
          <p:cNvPr id="38" name="Rectangle 37"/>
          <p:cNvSpPr/>
          <p:nvPr/>
        </p:nvSpPr>
        <p:spPr>
          <a:xfrm>
            <a:off x="6722436" y="3410362"/>
            <a:ext cx="5443352" cy="1323439"/>
          </a:xfrm>
          <a:prstGeom prst="rect">
            <a:avLst/>
          </a:prstGeom>
          <a:solidFill>
            <a:srgbClr val="FFCC99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The role of </a:t>
            </a:r>
            <a:r>
              <a:rPr lang="en-US" sz="2000" b="1" dirty="0">
                <a:solidFill>
                  <a:srgbClr val="FF0000"/>
                </a:solidFill>
              </a:rPr>
              <a:t>education-</a:t>
            </a:r>
            <a:r>
              <a:rPr lang="en-US" sz="2000" b="1" dirty="0" err="1">
                <a:solidFill>
                  <a:srgbClr val="FF0000"/>
                </a:solidFill>
              </a:rPr>
              <a:t>sanskar</a:t>
            </a:r>
            <a:r>
              <a:rPr lang="en-US" sz="2000" dirty="0">
                <a:solidFill>
                  <a:srgbClr val="000000"/>
                </a:solidFill>
              </a:rPr>
              <a:t> is to enable this transformation by way of ensuring the development of the competence to live with human consciousness and definite human conduct</a:t>
            </a:r>
            <a:endParaRPr lang="en-IN" sz="2000" dirty="0"/>
          </a:p>
        </p:txBody>
      </p:sp>
      <p:grpSp>
        <p:nvGrpSpPr>
          <p:cNvPr id="3" name="Group 2"/>
          <p:cNvGrpSpPr/>
          <p:nvPr/>
        </p:nvGrpSpPr>
        <p:grpSpPr>
          <a:xfrm>
            <a:off x="4519285" y="2488702"/>
            <a:ext cx="4005913" cy="1451395"/>
            <a:chOff x="4284285" y="2595822"/>
            <a:chExt cx="4005913" cy="1451395"/>
          </a:xfrm>
        </p:grpSpPr>
        <p:sp>
          <p:nvSpPr>
            <p:cNvPr id="36" name="Right Arrow 35"/>
            <p:cNvSpPr/>
            <p:nvPr/>
          </p:nvSpPr>
          <p:spPr>
            <a:xfrm rot="19580062">
              <a:off x="4284285" y="2595822"/>
              <a:ext cx="4005913" cy="1451395"/>
            </a:xfrm>
            <a:prstGeom prst="rightArrow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/>
            </a:p>
          </p:txBody>
        </p:sp>
        <p:sp>
          <p:nvSpPr>
            <p:cNvPr id="39" name="Rectangle 38"/>
            <p:cNvSpPr/>
            <p:nvPr/>
          </p:nvSpPr>
          <p:spPr>
            <a:xfrm rot="19587846">
              <a:off x="4364822" y="3198168"/>
              <a:ext cx="34623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 smtClean="0"/>
                <a:t>Transformation-Progress</a:t>
              </a:r>
              <a:endParaRPr lang="en-IN" sz="2400" b="1" dirty="0"/>
            </a:p>
          </p:txBody>
        </p:sp>
      </p:grpSp>
      <p:sp>
        <p:nvSpPr>
          <p:cNvPr id="40" name="Rectangle 39"/>
          <p:cNvSpPr/>
          <p:nvPr/>
        </p:nvSpPr>
        <p:spPr>
          <a:xfrm>
            <a:off x="7198342" y="5260779"/>
            <a:ext cx="4563822" cy="83099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</a:rPr>
              <a:t>Parents, teachers, and society has a greater role to play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722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  <p:bldP spid="38" grpId="0" animBg="1"/>
      <p:bldP spid="4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9320" y="2092325"/>
            <a:ext cx="105156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00FF"/>
                </a:solidFill>
              </a:rPr>
              <a:t>Holistic Development</a:t>
            </a:r>
            <a:endParaRPr lang="en-I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63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3744"/>
          </a:xfrm>
          <a:solidFill>
            <a:srgbClr val="FFFF00"/>
          </a:solidFill>
        </p:spPr>
        <p:txBody>
          <a:bodyPr>
            <a:noAutofit/>
          </a:bodyPr>
          <a:lstStyle/>
          <a:p>
            <a:pPr algn="ctr"/>
            <a:r>
              <a:rPr lang="en-US" sz="3200" dirty="0"/>
              <a:t>Outcome of Human Education</a:t>
            </a:r>
            <a:br>
              <a:rPr lang="en-US" sz="3200" dirty="0"/>
            </a:br>
            <a:r>
              <a:rPr lang="en-US" sz="3200" dirty="0" err="1"/>
              <a:t>Sanskar</a:t>
            </a:r>
            <a:endParaRPr lang="en-IN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703512" y="1834166"/>
            <a:ext cx="40561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rgbClr val="000000"/>
              </a:solidFill>
            </a:endParaRPr>
          </a:p>
          <a:p>
            <a:r>
              <a:rPr lang="en-IN" sz="2400" b="1" dirty="0"/>
              <a:t>Understanding of Harmony</a:t>
            </a:r>
            <a:endParaRPr lang="en-IN" sz="2400" dirty="0"/>
          </a:p>
          <a:p>
            <a:r>
              <a:rPr lang="en-IN" sz="2400" dirty="0"/>
              <a:t>Harmony in Human Being</a:t>
            </a:r>
          </a:p>
          <a:p>
            <a:r>
              <a:rPr lang="en-IN" sz="2400" dirty="0"/>
              <a:t>Harmony in  Family</a:t>
            </a:r>
          </a:p>
          <a:p>
            <a:r>
              <a:rPr lang="en-IN" sz="2400" dirty="0"/>
              <a:t>Harmony in  Society</a:t>
            </a:r>
          </a:p>
          <a:p>
            <a:r>
              <a:rPr lang="en-IN" sz="2400" dirty="0"/>
              <a:t>Harmony in Nature/Existence</a:t>
            </a:r>
          </a:p>
          <a:p>
            <a:r>
              <a:rPr lang="en-IN" sz="2400" b="1" dirty="0"/>
              <a:t>VALUES</a:t>
            </a:r>
            <a:endParaRPr lang="en-IN" sz="2400" dirty="0"/>
          </a:p>
        </p:txBody>
      </p:sp>
      <p:sp>
        <p:nvSpPr>
          <p:cNvPr id="8" name="Rectangle 7"/>
          <p:cNvSpPr/>
          <p:nvPr/>
        </p:nvSpPr>
        <p:spPr>
          <a:xfrm>
            <a:off x="7570158" y="2767568"/>
            <a:ext cx="31920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400" dirty="0">
              <a:solidFill>
                <a:srgbClr val="000000"/>
              </a:solidFill>
            </a:endParaRPr>
          </a:p>
          <a:p>
            <a:r>
              <a:rPr lang="en-IN" sz="2400" b="1" dirty="0"/>
              <a:t>Living in Harmony</a:t>
            </a:r>
            <a:endParaRPr lang="en-IN" sz="2400" dirty="0"/>
          </a:p>
          <a:p>
            <a:r>
              <a:rPr lang="en-IN" sz="2400" dirty="0"/>
              <a:t>As an Individual</a:t>
            </a:r>
          </a:p>
          <a:p>
            <a:r>
              <a:rPr lang="en-IN" sz="2400" dirty="0"/>
              <a:t>In the Family</a:t>
            </a:r>
          </a:p>
          <a:p>
            <a:r>
              <a:rPr lang="en-IN" sz="2400" dirty="0"/>
              <a:t>In the Society</a:t>
            </a:r>
          </a:p>
          <a:p>
            <a:r>
              <a:rPr lang="en-IN" sz="2400" dirty="0"/>
              <a:t>In Nature/Existence</a:t>
            </a:r>
          </a:p>
          <a:p>
            <a:r>
              <a:rPr lang="en-IN" sz="2400" b="1" dirty="0"/>
              <a:t>SKILLS</a:t>
            </a:r>
            <a:endParaRPr lang="en-IN" sz="2400" dirty="0"/>
          </a:p>
        </p:txBody>
      </p:sp>
      <p:sp>
        <p:nvSpPr>
          <p:cNvPr id="9" name="Curved Up Arrow 8"/>
          <p:cNvSpPr/>
          <p:nvPr/>
        </p:nvSpPr>
        <p:spPr>
          <a:xfrm>
            <a:off x="2567608" y="4881154"/>
            <a:ext cx="4983373" cy="564070"/>
          </a:xfrm>
          <a:prstGeom prst="curvedUpArrow">
            <a:avLst/>
          </a:prstGeom>
          <a:solidFill>
            <a:srgbClr val="00FF99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1459" y="4765460"/>
            <a:ext cx="1136469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Guided</a:t>
            </a:r>
            <a:endParaRPr lang="en-IN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3731568" y="5522736"/>
            <a:ext cx="28803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FFFF"/>
                </a:solidFill>
              </a:rPr>
              <a:t>Skills </a:t>
            </a:r>
            <a:r>
              <a:rPr lang="en-IN" sz="2000" b="1" dirty="0">
                <a:solidFill>
                  <a:srgbClr val="FFFFFF"/>
                </a:solidFill>
              </a:rPr>
              <a:t>guided by values</a:t>
            </a:r>
            <a:endParaRPr lang="en-IN" sz="2000" dirty="0"/>
          </a:p>
        </p:txBody>
      </p:sp>
      <p:sp>
        <p:nvSpPr>
          <p:cNvPr id="12" name="Oval 11"/>
          <p:cNvSpPr/>
          <p:nvPr/>
        </p:nvSpPr>
        <p:spPr>
          <a:xfrm>
            <a:off x="965045" y="1048056"/>
            <a:ext cx="10129191" cy="5040560"/>
          </a:xfrm>
          <a:prstGeom prst="ellipse">
            <a:avLst/>
          </a:prstGeom>
          <a:noFill/>
          <a:ln w="571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610998" y="5454458"/>
            <a:ext cx="25439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000" dirty="0">
              <a:latin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</a:rPr>
              <a:t>MUTUAL HAPPINESS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8976320" y="5638818"/>
            <a:ext cx="2831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000" dirty="0">
              <a:latin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</a:rPr>
              <a:t>MUTUAL </a:t>
            </a:r>
            <a:r>
              <a:rPr lang="en-IN" b="1" dirty="0" smtClean="0">
                <a:latin typeface="Arial" panose="020B0604020202020204" pitchFamily="34" charset="0"/>
              </a:rPr>
              <a:t>PROSPERITY</a:t>
            </a:r>
            <a:endParaRPr lang="en-IN" dirty="0"/>
          </a:p>
        </p:txBody>
      </p:sp>
      <p:sp>
        <p:nvSpPr>
          <p:cNvPr id="16" name="Down Arrow 15"/>
          <p:cNvSpPr/>
          <p:nvPr/>
        </p:nvSpPr>
        <p:spPr>
          <a:xfrm>
            <a:off x="10660194" y="4521114"/>
            <a:ext cx="305521" cy="10442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1266644" y="4761931"/>
            <a:ext cx="335097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8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4" y="274638"/>
            <a:ext cx="7383066" cy="1130566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Human </a:t>
            </a:r>
            <a:r>
              <a:rPr lang="en-US" dirty="0"/>
              <a:t>Being Living with Human Consciousness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29</a:t>
            </a:fld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1305923" y="1958753"/>
            <a:ext cx="6194959" cy="4126486"/>
            <a:chOff x="457996" y="1486525"/>
            <a:chExt cx="7400386" cy="4512209"/>
          </a:xfrm>
        </p:grpSpPr>
        <p:sp>
          <p:nvSpPr>
            <p:cNvPr id="8" name="Oval 7"/>
            <p:cNvSpPr/>
            <p:nvPr/>
          </p:nvSpPr>
          <p:spPr>
            <a:xfrm>
              <a:off x="2904442" y="1686812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1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209288" y="310745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2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059674" y="3121304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3</a:t>
              </a:r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59696" y="1486525"/>
              <a:ext cx="3744415" cy="807710"/>
            </a:xfrm>
            <a:prstGeom prst="rect">
              <a:avLst/>
            </a:prstGeom>
            <a:solidFill>
              <a:srgbClr val="00FF9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Right Understanding </a:t>
              </a:r>
              <a:endParaRPr lang="en-US" sz="2400" b="1" dirty="0" smtClean="0"/>
            </a:p>
            <a:p>
              <a:pPr algn="ctr"/>
              <a:r>
                <a:rPr lang="en-US" b="1" dirty="0" smtClean="0"/>
                <a:t>in the self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7996" y="3735906"/>
              <a:ext cx="2808311" cy="807709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 smtClean="0"/>
                <a:t>Relationship</a:t>
              </a:r>
              <a:endParaRPr lang="en-IN" sz="2400" dirty="0"/>
            </a:p>
            <a:p>
              <a:pPr algn="ctr"/>
              <a:r>
                <a:rPr lang="en-IN" b="1" dirty="0" smtClean="0"/>
                <a:t>with </a:t>
              </a:r>
              <a:r>
                <a:rPr lang="en-IN" b="1" dirty="0"/>
                <a:t>human being</a:t>
              </a:r>
              <a:endParaRPr lang="en-IN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66634" y="3831336"/>
              <a:ext cx="3291748" cy="807710"/>
            </a:xfrm>
            <a:prstGeom prst="rect">
              <a:avLst/>
            </a:prstGeom>
            <a:solidFill>
              <a:srgbClr val="00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 smtClean="0"/>
                <a:t>Physical Facility</a:t>
              </a:r>
              <a:endParaRPr lang="en-IN" sz="2400" dirty="0"/>
            </a:p>
            <a:p>
              <a:pPr algn="ctr"/>
              <a:r>
                <a:rPr lang="en-IN" b="1" dirty="0" smtClean="0"/>
                <a:t>With rest of nature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03171" y="5188563"/>
              <a:ext cx="1518913" cy="706747"/>
            </a:xfrm>
            <a:prstGeom prst="rect">
              <a:avLst/>
            </a:prstGeom>
            <a:solidFill>
              <a:srgbClr val="FFCC99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b="1" dirty="0" smtClean="0"/>
                <a:t>Mutual </a:t>
              </a:r>
            </a:p>
            <a:p>
              <a:pPr algn="ctr"/>
              <a:r>
                <a:rPr lang="en-IN" b="1" dirty="0" smtClean="0"/>
                <a:t>Happiness</a:t>
              </a:r>
              <a:endParaRPr lang="en-IN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501498" y="5291987"/>
              <a:ext cx="1422017" cy="706747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b="1" dirty="0" smtClean="0"/>
                <a:t>Mutual </a:t>
              </a:r>
            </a:p>
            <a:p>
              <a:pPr algn="ctr"/>
              <a:r>
                <a:rPr lang="en-IN" b="1" dirty="0" smtClean="0"/>
                <a:t>Prosperity</a:t>
              </a:r>
              <a:endParaRPr lang="en-IN" dirty="0"/>
            </a:p>
          </p:txBody>
        </p:sp>
        <p:cxnSp>
          <p:nvCxnSpPr>
            <p:cNvPr id="16" name="Straight Arrow Connector 15"/>
            <p:cNvCxnSpPr>
              <a:stCxn id="11" idx="2"/>
              <a:endCxn id="12" idx="0"/>
            </p:cNvCxnSpPr>
            <p:nvPr/>
          </p:nvCxnSpPr>
          <p:spPr>
            <a:xfrm flipH="1">
              <a:off x="1862152" y="2294234"/>
              <a:ext cx="3369752" cy="144167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2"/>
              <a:endCxn id="13" idx="0"/>
            </p:cNvCxnSpPr>
            <p:nvPr/>
          </p:nvCxnSpPr>
          <p:spPr>
            <a:xfrm>
              <a:off x="5231903" y="2294235"/>
              <a:ext cx="980606" cy="153710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3" idx="2"/>
              <a:endCxn id="15" idx="0"/>
            </p:cNvCxnSpPr>
            <p:nvPr/>
          </p:nvCxnSpPr>
          <p:spPr>
            <a:xfrm flipH="1">
              <a:off x="6212507" y="4639045"/>
              <a:ext cx="1" cy="65294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2"/>
              <a:endCxn id="14" idx="0"/>
            </p:cNvCxnSpPr>
            <p:nvPr/>
          </p:nvCxnSpPr>
          <p:spPr>
            <a:xfrm>
              <a:off x="1862152" y="4543615"/>
              <a:ext cx="475" cy="6449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7646419" y="629602"/>
            <a:ext cx="4056112" cy="2308324"/>
          </a:xfrm>
          <a:prstGeom prst="rect">
            <a:avLst/>
          </a:prstGeom>
          <a:solidFill>
            <a:srgbClr val="00FF99"/>
          </a:soli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Understanding </a:t>
            </a:r>
            <a:r>
              <a:rPr lang="en-IN" sz="2400" b="1" dirty="0"/>
              <a:t>of Harmony</a:t>
            </a:r>
            <a:endParaRPr lang="en-IN" sz="2400" dirty="0"/>
          </a:p>
          <a:p>
            <a:r>
              <a:rPr lang="en-IN" sz="2400" dirty="0"/>
              <a:t>Harmony in Human Being</a:t>
            </a:r>
          </a:p>
          <a:p>
            <a:r>
              <a:rPr lang="en-IN" sz="2400" dirty="0"/>
              <a:t>Harmony in  Family</a:t>
            </a:r>
          </a:p>
          <a:p>
            <a:r>
              <a:rPr lang="en-IN" sz="2400" dirty="0"/>
              <a:t>Harmony in  Society</a:t>
            </a:r>
          </a:p>
          <a:p>
            <a:r>
              <a:rPr lang="en-IN" sz="2400" dirty="0"/>
              <a:t>Harmony in Nature/Existence</a:t>
            </a:r>
          </a:p>
          <a:p>
            <a:r>
              <a:rPr lang="en-IN" sz="2400" b="1" dirty="0"/>
              <a:t>VALUES</a:t>
            </a:r>
            <a:endParaRPr lang="en-IN" sz="2400" dirty="0"/>
          </a:p>
        </p:txBody>
      </p:sp>
      <p:sp>
        <p:nvSpPr>
          <p:cNvPr id="32" name="Rectangle 31"/>
          <p:cNvSpPr/>
          <p:nvPr/>
        </p:nvSpPr>
        <p:spPr>
          <a:xfrm>
            <a:off x="7840189" y="3776915"/>
            <a:ext cx="3192016" cy="2308324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Living </a:t>
            </a:r>
            <a:r>
              <a:rPr lang="en-IN" sz="2400" b="1" dirty="0"/>
              <a:t>in Harmony</a:t>
            </a:r>
            <a:endParaRPr lang="en-IN" sz="2400" dirty="0"/>
          </a:p>
          <a:p>
            <a:r>
              <a:rPr lang="en-IN" sz="2400" dirty="0"/>
              <a:t>As an Individual</a:t>
            </a:r>
          </a:p>
          <a:p>
            <a:r>
              <a:rPr lang="en-IN" sz="2400" dirty="0"/>
              <a:t>In the Family</a:t>
            </a:r>
          </a:p>
          <a:p>
            <a:r>
              <a:rPr lang="en-IN" sz="2400" dirty="0"/>
              <a:t>In the Society</a:t>
            </a:r>
          </a:p>
          <a:p>
            <a:r>
              <a:rPr lang="en-IN" sz="2400" dirty="0"/>
              <a:t>In Nature/Existence</a:t>
            </a:r>
          </a:p>
          <a:p>
            <a:r>
              <a:rPr lang="en-IN" sz="2400" b="1" dirty="0"/>
              <a:t>SKILLS</a:t>
            </a:r>
            <a:endParaRPr lang="en-IN" sz="2400" dirty="0"/>
          </a:p>
        </p:txBody>
      </p:sp>
      <p:sp>
        <p:nvSpPr>
          <p:cNvPr id="33" name="Rectangle 32"/>
          <p:cNvSpPr/>
          <p:nvPr/>
        </p:nvSpPr>
        <p:spPr>
          <a:xfrm rot="16200000">
            <a:off x="121463" y="4346414"/>
            <a:ext cx="19688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/>
              <a:t>Sanskar</a:t>
            </a:r>
            <a:r>
              <a:rPr lang="en-US" sz="2000" b="1" dirty="0" smtClean="0"/>
              <a:t> - Living</a:t>
            </a:r>
            <a:endParaRPr lang="en-IN" sz="2000" b="1" dirty="0"/>
          </a:p>
        </p:txBody>
      </p:sp>
      <p:sp>
        <p:nvSpPr>
          <p:cNvPr id="34" name="Rectangle 33"/>
          <p:cNvSpPr/>
          <p:nvPr/>
        </p:nvSpPr>
        <p:spPr>
          <a:xfrm>
            <a:off x="985098" y="2179683"/>
            <a:ext cx="18357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Education</a:t>
            </a:r>
          </a:p>
          <a:p>
            <a:r>
              <a:rPr lang="en-US" sz="2000" b="1" dirty="0" smtClean="0"/>
              <a:t>Understanding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60466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2382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In a Nutshell: Societal </a:t>
            </a:r>
            <a:r>
              <a:rPr lang="en-US" dirty="0"/>
              <a:t>implications of living with Human Consciousness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30</a:t>
            </a:fld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1756270" y="1657676"/>
            <a:ext cx="7920880" cy="4217439"/>
            <a:chOff x="97732" y="1486525"/>
            <a:chExt cx="9462140" cy="4611664"/>
          </a:xfrm>
        </p:grpSpPr>
        <p:sp>
          <p:nvSpPr>
            <p:cNvPr id="8" name="Oval 7"/>
            <p:cNvSpPr/>
            <p:nvPr/>
          </p:nvSpPr>
          <p:spPr>
            <a:xfrm>
              <a:off x="2904442" y="1686812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1</a:t>
              </a:r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97732" y="3601783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2</a:t>
              </a:r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606691" y="3742752"/>
              <a:ext cx="546869" cy="50405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3</a:t>
              </a:r>
              <a:endParaRPr lang="en-IN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59697" y="1486525"/>
              <a:ext cx="3744415" cy="1716384"/>
            </a:xfrm>
            <a:prstGeom prst="rect">
              <a:avLst/>
            </a:prstGeom>
            <a:solidFill>
              <a:srgbClr val="00FF9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Right Understanding </a:t>
              </a:r>
              <a:endParaRPr lang="en-US" sz="2400" b="1" dirty="0" smtClean="0"/>
            </a:p>
            <a:p>
              <a:pPr algn="ctr"/>
              <a:r>
                <a:rPr lang="en-US" b="1" dirty="0" smtClean="0"/>
                <a:t>in the self</a:t>
              </a:r>
            </a:p>
            <a:p>
              <a:pPr algn="ctr"/>
              <a:r>
                <a:rPr lang="en-US" dirty="0"/>
                <a:t>Understanding Harmony in Human Being, Family, Society, Nature/Existence</a:t>
              </a:r>
              <a:endParaRPr lang="en-IN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51386" y="3525756"/>
              <a:ext cx="2808310" cy="1413494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 smtClean="0">
                  <a:solidFill>
                    <a:schemeClr val="bg1"/>
                  </a:solidFill>
                </a:rPr>
                <a:t>Relationship</a:t>
              </a:r>
              <a:endParaRPr lang="en-IN" sz="2400" dirty="0">
                <a:solidFill>
                  <a:schemeClr val="bg1"/>
                </a:solidFill>
              </a:endParaRPr>
            </a:p>
            <a:p>
              <a:pPr algn="ctr"/>
              <a:r>
                <a:rPr lang="en-IN" b="1" dirty="0" smtClean="0">
                  <a:solidFill>
                    <a:schemeClr val="bg1"/>
                  </a:solidFill>
                </a:rPr>
                <a:t>with </a:t>
              </a:r>
              <a:r>
                <a:rPr lang="en-IN" b="1" dirty="0">
                  <a:solidFill>
                    <a:schemeClr val="bg1"/>
                  </a:solidFill>
                </a:rPr>
                <a:t>human </a:t>
              </a:r>
              <a:r>
                <a:rPr lang="en-IN" b="1" dirty="0" smtClean="0">
                  <a:solidFill>
                    <a:schemeClr val="bg1"/>
                  </a:solidFill>
                </a:rPr>
                <a:t>being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from Family to World </a:t>
              </a:r>
              <a:r>
                <a:rPr lang="en-US" dirty="0" smtClean="0">
                  <a:solidFill>
                    <a:schemeClr val="bg1"/>
                  </a:solidFill>
                </a:rPr>
                <a:t>Family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34419" y="3500774"/>
              <a:ext cx="3291748" cy="1413493"/>
            </a:xfrm>
            <a:prstGeom prst="rect">
              <a:avLst/>
            </a:prstGeom>
            <a:solidFill>
              <a:srgbClr val="00FF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 smtClean="0"/>
                <a:t>Physical Facility</a:t>
              </a:r>
              <a:endParaRPr lang="en-IN" sz="2400" dirty="0"/>
            </a:p>
            <a:p>
              <a:pPr algn="ctr"/>
              <a:r>
                <a:rPr lang="en-IN" b="1" dirty="0" smtClean="0"/>
                <a:t>With rest of nature</a:t>
              </a:r>
            </a:p>
            <a:p>
              <a:pPr algn="ctr"/>
              <a:r>
                <a:rPr lang="en-US" dirty="0"/>
                <a:t>From Family Order to World Family Order</a:t>
              </a:r>
              <a:endParaRPr lang="en-IN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600" y="5372032"/>
              <a:ext cx="2621706" cy="706747"/>
            </a:xfrm>
            <a:prstGeom prst="rect">
              <a:avLst/>
            </a:prstGeom>
            <a:solidFill>
              <a:srgbClr val="FFCC99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 smtClean="0">
                  <a:solidFill>
                    <a:srgbClr val="FF0000"/>
                  </a:solidFill>
                </a:rPr>
                <a:t>Mutual Happiness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Undivided Society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64729" y="5391442"/>
              <a:ext cx="3595143" cy="706747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>
              <a:spAutoFit/>
            </a:bodyPr>
            <a:lstStyle/>
            <a:p>
              <a:pPr algn="ctr"/>
              <a:r>
                <a:rPr lang="en-IN" b="1" dirty="0" smtClean="0">
                  <a:solidFill>
                    <a:srgbClr val="FF0000"/>
                  </a:solidFill>
                </a:rPr>
                <a:t>Fulfilment of Human Goal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</a:rPr>
                <a:t>Universal Human Order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/>
            <p:cNvCxnSpPr>
              <a:stCxn id="11" idx="2"/>
              <a:endCxn id="12" idx="0"/>
            </p:cNvCxnSpPr>
            <p:nvPr/>
          </p:nvCxnSpPr>
          <p:spPr>
            <a:xfrm flipH="1">
              <a:off x="1955542" y="3202909"/>
              <a:ext cx="3276362" cy="32284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2"/>
              <a:endCxn id="13" idx="0"/>
            </p:cNvCxnSpPr>
            <p:nvPr/>
          </p:nvCxnSpPr>
          <p:spPr>
            <a:xfrm>
              <a:off x="5231904" y="3202909"/>
              <a:ext cx="2548390" cy="29786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3" idx="2"/>
              <a:endCxn id="15" idx="0"/>
            </p:cNvCxnSpPr>
            <p:nvPr/>
          </p:nvCxnSpPr>
          <p:spPr>
            <a:xfrm flipH="1">
              <a:off x="7762301" y="4914267"/>
              <a:ext cx="17993" cy="47717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2"/>
              <a:endCxn id="14" idx="0"/>
            </p:cNvCxnSpPr>
            <p:nvPr/>
          </p:nvCxnSpPr>
          <p:spPr>
            <a:xfrm flipH="1">
              <a:off x="1955453" y="4939250"/>
              <a:ext cx="88" cy="43278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246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56" y="476672"/>
            <a:ext cx="1944217" cy="1080938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altLang="en-US" sz="2400" dirty="0"/>
              <a:t>Self Reflection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 Mahapatra &amp; P. P. Paltani, IIITNR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Study of Human Value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C2A5C-66EF-4573-ABF5-ECB21AC933C5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567608" y="635779"/>
            <a:ext cx="895265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Symbol" pitchFamily="18" charset="2"/>
              <a:buNone/>
              <a:defRPr/>
            </a:pPr>
            <a:r>
              <a:rPr lang="en-US" altLang="en-US" b="1" dirty="0"/>
              <a:t>Make a list of your wants, desires… Find out what is needed to fulfill them: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en-US" b="1" dirty="0"/>
              <a:t>– right understanding (clarity)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en-US" b="1" dirty="0"/>
              <a:t>– relationship (right feeling – trust, respect … love)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en-US" b="1" dirty="0"/>
              <a:t>– physical facility (money…)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 err="1">
                <a:solidFill>
                  <a:srgbClr val="0066FF"/>
                </a:solidFill>
              </a:rPr>
              <a:t>eg</a:t>
            </a:r>
            <a:r>
              <a:rPr lang="en-US" altLang="en-US" dirty="0">
                <a:solidFill>
                  <a:srgbClr val="0066FF"/>
                </a:solidFill>
              </a:rPr>
              <a:t>. 			</a:t>
            </a:r>
            <a:r>
              <a:rPr lang="en-US" altLang="en-US" b="1" u="sng" dirty="0" smtClean="0">
                <a:solidFill>
                  <a:srgbClr val="008000"/>
                </a:solidFill>
              </a:rPr>
              <a:t>right und	</a:t>
            </a:r>
            <a:r>
              <a:rPr lang="en-US" altLang="en-US" b="1" dirty="0">
                <a:solidFill>
                  <a:srgbClr val="008000"/>
                </a:solidFill>
              </a:rPr>
              <a:t>	</a:t>
            </a:r>
            <a:r>
              <a:rPr lang="en-US" altLang="en-US" b="1" u="sng" dirty="0" smtClean="0">
                <a:solidFill>
                  <a:srgbClr val="008000"/>
                </a:solidFill>
              </a:rPr>
              <a:t>relationship</a:t>
            </a:r>
            <a:r>
              <a:rPr lang="en-US" altLang="en-US" b="1" dirty="0">
                <a:solidFill>
                  <a:srgbClr val="008000"/>
                </a:solidFill>
              </a:rPr>
              <a:t> </a:t>
            </a:r>
            <a:r>
              <a:rPr lang="en-US" altLang="en-US" b="1" dirty="0" smtClean="0">
                <a:solidFill>
                  <a:srgbClr val="008000"/>
                </a:solidFill>
              </a:rPr>
              <a:t>      </a:t>
            </a:r>
            <a:r>
              <a:rPr lang="en-US" altLang="en-US" b="1" u="sng" dirty="0" smtClean="0">
                <a:solidFill>
                  <a:srgbClr val="008000"/>
                </a:solidFill>
              </a:rPr>
              <a:t>physical </a:t>
            </a:r>
            <a:r>
              <a:rPr lang="en-US" altLang="en-US" b="1" u="sng" dirty="0">
                <a:solidFill>
                  <a:srgbClr val="008000"/>
                </a:solidFill>
              </a:rPr>
              <a:t>facility, body</a:t>
            </a:r>
            <a:endParaRPr lang="en-US" altLang="en-US" b="1" dirty="0">
              <a:solidFill>
                <a:srgbClr val="008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Money					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r>
              <a:rPr lang="en-US" altLang="en-US" dirty="0">
                <a:solidFill>
                  <a:srgbClr val="0066FF"/>
                </a:solidFill>
              </a:rPr>
              <a:t> (salary…)</a:t>
            </a:r>
          </a:p>
          <a:p>
            <a:pPr>
              <a:buFont typeface="Symbol" pitchFamily="18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Name, fame, </a:t>
            </a:r>
            <a:r>
              <a:rPr lang="en-US" altLang="en-US" dirty="0" smtClean="0">
                <a:solidFill>
                  <a:srgbClr val="0066FF"/>
                </a:solidFill>
              </a:rPr>
              <a:t>attention	 </a:t>
            </a:r>
            <a:r>
              <a:rPr lang="en-US" altLang="en-US" sz="2400" dirty="0" smtClean="0">
                <a:solidFill>
                  <a:srgbClr val="0066FF"/>
                </a:solidFill>
              </a:rPr>
              <a:t>√</a:t>
            </a:r>
            <a:r>
              <a:rPr lang="en-US" altLang="en-US" dirty="0">
                <a:solidFill>
                  <a:srgbClr val="0066FF"/>
                </a:solidFill>
              </a:rPr>
              <a:t>	</a:t>
            </a:r>
            <a:r>
              <a:rPr lang="en-US" altLang="en-US" sz="2000" dirty="0">
                <a:solidFill>
                  <a:srgbClr val="0066FF"/>
                </a:solidFill>
              </a:rPr>
              <a:t> √ </a:t>
            </a:r>
            <a:r>
              <a:rPr lang="en-US" altLang="en-US" dirty="0">
                <a:solidFill>
                  <a:srgbClr val="0066FF"/>
                </a:solidFill>
              </a:rPr>
              <a:t>	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endParaRPr lang="en-US" altLang="en-US" dirty="0">
              <a:solidFill>
                <a:srgbClr val="0066FF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good food				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r>
              <a:rPr lang="en-US" altLang="en-US" dirty="0">
                <a:solidFill>
                  <a:srgbClr val="0066FF"/>
                </a:solidFill>
              </a:rPr>
              <a:t> (food)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big car					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r>
              <a:rPr lang="en-US" altLang="en-US" dirty="0">
                <a:solidFill>
                  <a:srgbClr val="0066FF"/>
                </a:solidFill>
              </a:rPr>
              <a:t> (car)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peace of mind		</a:t>
            </a:r>
            <a:r>
              <a:rPr lang="en-US" altLang="en-US" sz="2000" dirty="0" smtClean="0">
                <a:solidFill>
                  <a:srgbClr val="0066FF"/>
                </a:solidFill>
              </a:rPr>
              <a:t>√ </a:t>
            </a:r>
            <a:r>
              <a:rPr lang="en-US" altLang="en-US" dirty="0">
                <a:solidFill>
                  <a:srgbClr val="0066FF"/>
                </a:solidFill>
              </a:rPr>
              <a:t>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r>
              <a:rPr lang="en-US" altLang="en-US" dirty="0">
                <a:solidFill>
                  <a:srgbClr val="0066FF"/>
                </a:solidFill>
              </a:rPr>
              <a:t> (family &amp; friends)	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0066FF"/>
                </a:solidFill>
              </a:rPr>
              <a:t>	good health		</a:t>
            </a:r>
            <a:r>
              <a:rPr lang="en-US" altLang="en-US" sz="2000" dirty="0" smtClean="0">
                <a:solidFill>
                  <a:srgbClr val="0066FF"/>
                </a:solidFill>
              </a:rPr>
              <a:t>√ </a:t>
            </a:r>
            <a:r>
              <a:rPr lang="en-US" altLang="en-US" dirty="0">
                <a:solidFill>
                  <a:srgbClr val="0066FF"/>
                </a:solidFill>
              </a:rPr>
              <a:t>	</a:t>
            </a:r>
            <a:r>
              <a:rPr lang="en-US" altLang="en-US" sz="2000" dirty="0">
                <a:solidFill>
                  <a:srgbClr val="0066FF"/>
                </a:solidFill>
              </a:rPr>
              <a:t>√ </a:t>
            </a:r>
            <a:r>
              <a:rPr lang="en-US" altLang="en-US" dirty="0">
                <a:solidFill>
                  <a:srgbClr val="0066FF"/>
                </a:solidFill>
              </a:rPr>
              <a:t>		</a:t>
            </a:r>
            <a:r>
              <a:rPr lang="en-US" altLang="en-US" sz="2000" dirty="0">
                <a:solidFill>
                  <a:srgbClr val="0066FF"/>
                </a:solidFill>
              </a:rPr>
              <a:t>√</a:t>
            </a:r>
            <a:endParaRPr lang="en-US" altLang="en-US" dirty="0">
              <a:solidFill>
                <a:srgbClr val="0066FF"/>
              </a:solidFill>
            </a:endParaRPr>
          </a:p>
          <a:p>
            <a:pPr>
              <a:buFont typeface="Wingdings" pitchFamily="2" charset="2"/>
              <a:buNone/>
              <a:defRPr/>
            </a:pPr>
            <a:endParaRPr lang="en-US" altLang="en-US" dirty="0">
              <a:solidFill>
                <a:schemeClr val="bg1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Also find out how much time and effort you put in every day in these 3 areas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 err="1">
                <a:solidFill>
                  <a:srgbClr val="FF00FF"/>
                </a:solidFill>
              </a:rPr>
              <a:t>eg</a:t>
            </a:r>
            <a:r>
              <a:rPr lang="en-US" altLang="en-US" dirty="0">
                <a:solidFill>
                  <a:srgbClr val="FF00FF"/>
                </a:solidFill>
              </a:rPr>
              <a:t>.			</a:t>
            </a:r>
            <a:r>
              <a:rPr lang="en-US" altLang="en-US" b="1" u="sng" dirty="0">
                <a:solidFill>
                  <a:srgbClr val="008000"/>
                </a:solidFill>
              </a:rPr>
              <a:t>right und</a:t>
            </a:r>
            <a:r>
              <a:rPr lang="en-US" altLang="en-US" b="1" dirty="0">
                <a:solidFill>
                  <a:srgbClr val="008000"/>
                </a:solidFill>
              </a:rPr>
              <a:t>	</a:t>
            </a:r>
            <a:r>
              <a:rPr lang="en-US" altLang="en-US" b="1" dirty="0" smtClean="0">
                <a:solidFill>
                  <a:srgbClr val="008000"/>
                </a:solidFill>
              </a:rPr>
              <a:t>	</a:t>
            </a:r>
            <a:r>
              <a:rPr lang="en-US" altLang="en-US" b="1" u="sng" dirty="0" smtClean="0">
                <a:solidFill>
                  <a:srgbClr val="008000"/>
                </a:solidFill>
              </a:rPr>
              <a:t>relationship</a:t>
            </a:r>
            <a:r>
              <a:rPr lang="en-US" altLang="en-US" dirty="0" smtClean="0">
                <a:solidFill>
                  <a:srgbClr val="008000"/>
                </a:solidFill>
              </a:rPr>
              <a:t>       </a:t>
            </a:r>
            <a:r>
              <a:rPr lang="en-US" altLang="en-US" b="1" u="sng" dirty="0" smtClean="0">
                <a:solidFill>
                  <a:srgbClr val="008000"/>
                </a:solidFill>
              </a:rPr>
              <a:t>physical </a:t>
            </a:r>
            <a:r>
              <a:rPr lang="en-US" altLang="en-US" b="1" u="sng" dirty="0">
                <a:solidFill>
                  <a:srgbClr val="008000"/>
                </a:solidFill>
              </a:rPr>
              <a:t>facility, body</a:t>
            </a:r>
          </a:p>
          <a:p>
            <a:pPr>
              <a:buFont typeface="Symbol" pitchFamily="18" charset="2"/>
              <a:buNone/>
              <a:defRPr/>
            </a:pPr>
            <a:r>
              <a:rPr lang="en-US" altLang="en-US" dirty="0">
                <a:solidFill>
                  <a:srgbClr val="FF00FF"/>
                </a:solidFill>
              </a:rPr>
              <a:t>	work	</a:t>
            </a:r>
            <a:r>
              <a:rPr lang="en-US" altLang="en-US" dirty="0" smtClean="0">
                <a:solidFill>
                  <a:srgbClr val="FF00FF"/>
                </a:solidFill>
              </a:rPr>
              <a:t>10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	1 </a:t>
            </a:r>
            <a:r>
              <a:rPr lang="en-US" altLang="en-US" dirty="0" err="1">
                <a:solidFill>
                  <a:srgbClr val="FF00FF"/>
                </a:solidFill>
              </a:rPr>
              <a:t>hr</a:t>
            </a:r>
            <a:r>
              <a:rPr lang="en-US" altLang="en-US" dirty="0">
                <a:solidFill>
                  <a:srgbClr val="FF00FF"/>
                </a:solidFill>
              </a:rPr>
              <a:t> (learning)	2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 (talking)	7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 (salary)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FF00FF"/>
                </a:solidFill>
              </a:rPr>
              <a:t>	eating	  2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					2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endParaRPr lang="en-US" altLang="en-US" dirty="0">
              <a:solidFill>
                <a:srgbClr val="FF00FF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FF00FF"/>
                </a:solidFill>
              </a:rPr>
              <a:t>	sleeping	  8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					8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endParaRPr lang="en-US" altLang="en-US" dirty="0">
              <a:solidFill>
                <a:srgbClr val="FF00FF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dirty="0">
                <a:solidFill>
                  <a:srgbClr val="FF00FF"/>
                </a:solidFill>
              </a:rPr>
              <a:t>	other </a:t>
            </a:r>
            <a:r>
              <a:rPr lang="en-US" altLang="en-US" dirty="0" smtClean="0">
                <a:solidFill>
                  <a:srgbClr val="FF00FF"/>
                </a:solidFill>
              </a:rPr>
              <a:t>activity  </a:t>
            </a:r>
            <a:r>
              <a:rPr lang="en-US" altLang="en-US" dirty="0">
                <a:solidFill>
                  <a:srgbClr val="FF00FF"/>
                </a:solidFill>
              </a:rPr>
              <a:t>4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	3 </a:t>
            </a:r>
            <a:r>
              <a:rPr lang="en-US" altLang="en-US" dirty="0" err="1">
                <a:solidFill>
                  <a:srgbClr val="FF00FF"/>
                </a:solidFill>
              </a:rPr>
              <a:t>hrs</a:t>
            </a:r>
            <a:r>
              <a:rPr lang="en-US" altLang="en-US" dirty="0">
                <a:solidFill>
                  <a:srgbClr val="FF00FF"/>
                </a:solidFill>
              </a:rPr>
              <a:t> (worship, TV)		</a:t>
            </a:r>
            <a:r>
              <a:rPr lang="en-US" altLang="en-US" dirty="0" smtClean="0">
                <a:solidFill>
                  <a:srgbClr val="FF00FF"/>
                </a:solidFill>
              </a:rPr>
              <a:t>	1 </a:t>
            </a:r>
            <a:r>
              <a:rPr lang="en-US" altLang="en-US" dirty="0" err="1">
                <a:solidFill>
                  <a:srgbClr val="FF00FF"/>
                </a:solidFill>
              </a:rPr>
              <a:t>hr</a:t>
            </a:r>
            <a:r>
              <a:rPr lang="en-US" altLang="en-US" dirty="0">
                <a:solidFill>
                  <a:srgbClr val="FF00FF"/>
                </a:solidFill>
              </a:rPr>
              <a:t> (bath, gym etc.)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b="1" dirty="0">
                <a:solidFill>
                  <a:srgbClr val="FF00FF"/>
                </a:solidFill>
              </a:rPr>
              <a:t>			</a:t>
            </a:r>
            <a:r>
              <a:rPr lang="en-US" altLang="en-US" b="1" dirty="0" smtClean="0">
                <a:solidFill>
                  <a:srgbClr val="FF00FF"/>
                </a:solidFill>
              </a:rPr>
              <a:t>4 </a:t>
            </a:r>
            <a:r>
              <a:rPr lang="en-US" altLang="en-US" b="1" dirty="0" err="1">
                <a:solidFill>
                  <a:srgbClr val="FF00FF"/>
                </a:solidFill>
              </a:rPr>
              <a:t>hrs</a:t>
            </a:r>
            <a:r>
              <a:rPr lang="en-US" altLang="en-US" b="1" dirty="0">
                <a:solidFill>
                  <a:srgbClr val="FF00FF"/>
                </a:solidFill>
              </a:rPr>
              <a:t>		2 </a:t>
            </a:r>
            <a:r>
              <a:rPr lang="en-US" altLang="en-US" b="1" dirty="0" err="1">
                <a:solidFill>
                  <a:srgbClr val="FF00FF"/>
                </a:solidFill>
              </a:rPr>
              <a:t>hrs</a:t>
            </a:r>
            <a:r>
              <a:rPr lang="en-US" altLang="en-US" b="1" dirty="0">
                <a:solidFill>
                  <a:srgbClr val="FF00FF"/>
                </a:solidFill>
              </a:rPr>
              <a:t>	           18 </a:t>
            </a:r>
            <a:r>
              <a:rPr lang="en-US" altLang="en-US" b="1" dirty="0" err="1">
                <a:solidFill>
                  <a:srgbClr val="FF00FF"/>
                </a:solidFill>
              </a:rPr>
              <a:t>hrs</a:t>
            </a:r>
            <a:endParaRPr lang="en-US" altLang="en-US" b="1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6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1894</Words>
  <Application>Microsoft Office PowerPoint</Application>
  <PresentationFormat>Widescreen</PresentationFormat>
  <Paragraphs>404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Bernoru</vt:lpstr>
      <vt:lpstr>Calibri</vt:lpstr>
      <vt:lpstr>Calibri Light</vt:lpstr>
      <vt:lpstr>Mangal</vt:lpstr>
      <vt:lpstr>Open Sans</vt:lpstr>
      <vt:lpstr>Symbol</vt:lpstr>
      <vt:lpstr>Wingdings</vt:lpstr>
      <vt:lpstr>Office Theme</vt:lpstr>
      <vt:lpstr>PowerPoint Presentation</vt:lpstr>
      <vt:lpstr>Case Study: The Pursuit of Happiness vs. Materialism </vt:lpstr>
      <vt:lpstr>PowerPoint Presentation</vt:lpstr>
      <vt:lpstr>Process to initiate Dialogue</vt:lpstr>
      <vt:lpstr>Life with Clarity of Basic Aspiration (Goal)</vt:lpstr>
      <vt:lpstr>We keep doing something which we consider to be important at a given point of time.</vt:lpstr>
      <vt:lpstr>What will make us fulfilled?</vt:lpstr>
      <vt:lpstr>The Basic Human Aspirations are Happiness, prosperity and its continuity.</vt:lpstr>
      <vt:lpstr>Basic Requirements for Fulfilling of Human Aspirations </vt:lpstr>
      <vt:lpstr>Aspiration, What We Want to Be</vt:lpstr>
      <vt:lpstr>PowerPoint Presentation</vt:lpstr>
      <vt:lpstr>Is our effort for   continuity of happiness and prosperity  or  just for accumulation of physical facility?</vt:lpstr>
      <vt:lpstr>Think a little To find out what else is required (over and above physical facility)</vt:lpstr>
      <vt:lpstr>For human beings physical facility is necessary but relationship is also necessary</vt:lpstr>
      <vt:lpstr>Physical Facility is Necessary</vt:lpstr>
      <vt:lpstr>Check our Understanding</vt:lpstr>
      <vt:lpstr>A Situation</vt:lpstr>
      <vt:lpstr>Lets Prioritize</vt:lpstr>
      <vt:lpstr>Priority: Physical Facility</vt:lpstr>
      <vt:lpstr>PowerPoint Presentation</vt:lpstr>
      <vt:lpstr>PowerPoint Presentation</vt:lpstr>
      <vt:lpstr>Development of Human Consiousness</vt:lpstr>
      <vt:lpstr>PowerPoint Presentation</vt:lpstr>
      <vt:lpstr>Requirement to fulfill Basic Aspiration</vt:lpstr>
      <vt:lpstr>Since we generally don’t have clarity about our physical needs…</vt:lpstr>
      <vt:lpstr>Transformation  = Development</vt:lpstr>
      <vt:lpstr>Holistic Development</vt:lpstr>
      <vt:lpstr>Outcome of Human Education Sanskar</vt:lpstr>
      <vt:lpstr>Human Being Living with Human Consciousness</vt:lpstr>
      <vt:lpstr>In a Nutshell: Societal implications of living with Human Consciousness</vt:lpstr>
      <vt:lpstr>Self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IIIT-NR</dc:creator>
  <cp:lastModifiedBy>IIIT-NR</cp:lastModifiedBy>
  <cp:revision>62</cp:revision>
  <cp:lastPrinted>2026-02-09T11:43:08Z</cp:lastPrinted>
  <dcterms:created xsi:type="dcterms:W3CDTF">2025-07-15T07:13:53Z</dcterms:created>
  <dcterms:modified xsi:type="dcterms:W3CDTF">2026-02-10T04:59:06Z</dcterms:modified>
</cp:coreProperties>
</file>